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Revenue (₹ Cr)</c:v>
                </c:pt>
              </c:strCache>
            </c:strRef>
          </c:tx>
          <c:spPr>
            <a:solidFill>
              <a:srgbClr val="2A9D8F"/>
            </a:solidFill>
            <a:effectLst/>
          </c:spPr>
          <c:invertIfNegative val="0"/>
          <c:dLbls>
            <c:numFmt formatCode="#,##0" sourceLinked="0"/>
            <c:txPr>
              <a:bodyPr/>
              <a:lstStyle/>
              <a:p>
                <a:pPr>
                  <a:defRPr b="0" i="0" strike="noStrike" sz="1100" u="none">
                    <a:solidFill>
                      <a:srgbClr val="273043"/>
                    </a:solidFill>
                    <a:latin typeface="Arial"/>
                  </a:defRPr>
                </a:pPr>
              </a:p>
            </c:txPr>
            <c:showLegendKey val="0"/>
            <c:showVal val="1"/>
            <c:showCatName val="0"/>
            <c:showSerName val="0"/>
            <c:showPercent val="0"/>
            <c:showBubbleSize val="0"/>
            <c:showLeaderLines val="0"/>
          </c:dLbls>
          <c:cat>
            <c:multiLvlStrRef>
              <c:f>Sheet1!$A$2:$A$6</c:f>
              <c:multiLvlStrCache>
                <c:ptCount val="5"/>
                <c:lvl>
                  <c:pt idx="0">
                    <c:v>Electronics</c:v>
                  </c:pt>
                  <c:pt idx="1">
                    <c:v>Education</c:v>
                  </c:pt>
                  <c:pt idx="2">
                    <c:v>Grocery</c:v>
                  </c:pt>
                  <c:pt idx="3">
                    <c:v>Furniture</c:v>
                  </c:pt>
                  <c:pt idx="4">
                    <c:v>Fashion</c:v>
                  </c:pt>
                </c:lvl>
              </c:multiLvlStrCache>
            </c:multiLvlStrRef>
          </c:cat>
          <c:val>
            <c:numRef>
              <c:f>Sheet1!$B$2:$B$6</c:f>
              <c:numCache>
                <c:formatCode>General</c:formatCode>
                <c:ptCount val="5"/>
                <c:pt idx="0">
                  <c:v>5.08</c:v>
                </c:pt>
                <c:pt idx="1">
                  <c:v>2.5</c:v>
                </c:pt>
                <c:pt idx="2">
                  <c:v>2.22</c:v>
                </c:pt>
                <c:pt idx="3">
                  <c:v>2.15</c:v>
                </c:pt>
                <c:pt idx="4">
                  <c:v>1.98</c:v>
                </c:pt>
              </c:numCache>
            </c:numRef>
          </c:val>
        </c:ser>
        <c:dLbls>
          <c:numFmt formatCode="#,##0" sourceLinked="0"/>
          <c:txPr>
            <a:bodyPr/>
            <a:lstStyle/>
            <a:p>
              <a:pPr>
                <a:defRPr b="0" i="0" strike="noStrike" sz="1100" u="none">
                  <a:solidFill>
                    <a:srgbClr val="27304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73043"/>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5E7EB"/>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 Crore</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Revenue (₹ Cr)</c:v>
                </c:pt>
              </c:strCache>
            </c:strRef>
          </c:tx>
          <c:spPr>
            <a:solidFill>
              <a:srgbClr val="E76F51"/>
            </a:solidFill>
            <a:ln w="25400" cap="flat">
              <a:solidFill>
                <a:srgbClr val="E76F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E76F51"/>
              </a:solidFill>
              <a:ln w="9525" cap="flat">
                <a:solidFill>
                  <a:srgbClr val="E76F51"/>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1.01</c:v>
                </c:pt>
                <c:pt idx="1">
                  <c:v>1.15</c:v>
                </c:pt>
                <c:pt idx="2">
                  <c:v>1.31</c:v>
                </c:pt>
                <c:pt idx="3">
                  <c:v>1.22</c:v>
                </c:pt>
                <c:pt idx="4">
                  <c:v>1.1</c:v>
                </c:pt>
                <c:pt idx="5">
                  <c:v>1.29</c:v>
                </c:pt>
                <c:pt idx="6">
                  <c:v>1.17</c:v>
                </c:pt>
                <c:pt idx="7">
                  <c:v>0.94</c:v>
                </c:pt>
                <c:pt idx="8">
                  <c:v>0.92</c:v>
                </c:pt>
                <c:pt idx="9">
                  <c:v>1.25</c:v>
                </c:pt>
                <c:pt idx="10">
                  <c:v>1.26</c:v>
                </c:pt>
                <c:pt idx="11">
                  <c:v>1.23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 Cr)</c:v>
                </c:pt>
              </c:strCache>
            </c:strRef>
          </c:tx>
          <c:spPr>
            <a:solidFill>
              <a:srgbClr val="2A9D8F"/>
            </a:solidFill>
            <a:effectLst/>
          </c:spPr>
          <c:invertIfNegative val="0"/>
          <c:dLbls>
            <c:numFmt formatCode="#,##0" sourceLinked="0"/>
            <c:txPr>
              <a:bodyPr/>
              <a:lstStyle/>
              <a:p>
                <a:pPr>
                  <a:defRPr b="0" i="0" strike="noStrike" sz="1000" u="none">
                    <a:solidFill>
                      <a:srgbClr val="273043"/>
                    </a:solidFill>
                    <a:latin typeface="Arial"/>
                  </a:defRPr>
                </a:pPr>
              </a:p>
            </c:txPr>
            <c:showLegendKey val="0"/>
            <c:showVal val="1"/>
            <c:showCatName val="0"/>
            <c:showSerName val="0"/>
            <c:showPercent val="0"/>
            <c:showBubbleSize val="0"/>
            <c:showLeaderLines val="0"/>
          </c:dLbls>
          <c:cat>
            <c:multiLvlStrRef>
              <c:f>Sheet1!$A$2:$A$6</c:f>
              <c:multiLvlStrCache>
                <c:ptCount val="5"/>
                <c:lvl>
                  <c:pt idx="0">
                    <c:v>Patna</c:v>
                  </c:pt>
                  <c:pt idx="1">
                    <c:v>Kolkata</c:v>
                  </c:pt>
                  <c:pt idx="2">
                    <c:v>Bengaluru</c:v>
                  </c:pt>
                  <c:pt idx="3">
                    <c:v>Mumbai</c:v>
                  </c:pt>
                  <c:pt idx="4">
                    <c:v>Hyderabad</c:v>
                  </c:pt>
                </c:lvl>
              </c:multiLvlStrCache>
            </c:multiLvlStrRef>
          </c:cat>
          <c:val>
            <c:numRef>
              <c:f>Sheet1!$B$2:$B$6</c:f>
              <c:numCache>
                <c:formatCode>General</c:formatCode>
                <c:ptCount val="5"/>
                <c:pt idx="0">
                  <c:v>1.93</c:v>
                </c:pt>
                <c:pt idx="1">
                  <c:v>1.89</c:v>
                </c:pt>
                <c:pt idx="2">
                  <c:v>1.88</c:v>
                </c:pt>
                <c:pt idx="3">
                  <c:v>1.88</c:v>
                </c:pt>
                <c:pt idx="4">
                  <c:v>1.72</c:v>
                </c:pt>
              </c:numCache>
            </c:numRef>
          </c:val>
        </c:ser>
        <c:dLbls>
          <c:numFmt formatCode="#,##0" sourceLinked="0"/>
          <c:txPr>
            <a:bodyPr/>
            <a:lstStyle/>
            <a:p>
              <a:pPr>
                <a:defRPr b="0" i="0" strike="noStrike" sz="1000" u="none">
                  <a:solidFill>
                    <a:srgbClr val="27304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2B4A"/>
                </a:solidFill>
                <a:latin typeface="Arial"/>
              </a:defRPr>
            </a:pPr>
            <a:r>
              <a:rPr sz="1300" b="0" i="0" u="none" strike="noStrike">
                <a:solidFill>
                  <a:srgbClr val="1C2B4A"/>
                </a:solidFill>
                <a:latin typeface="Arial"/>
              </a:rPr>
              <a:t>Top 5 Products by Revenue</a:t>
            </a:r>
          </a:p>
        </c:rich>
      </c:tx>
      <c:layout/>
      <c:overlay val="0"/>
    </c:title>
    <c:autoTitleDeleted val="0"/>
    <c:plotArea>
      <c:layout/>
      <c:barChart>
        <c:barDir val="bar"/>
        <c:grouping val="clustered"/>
        <c:varyColors val="0"/>
        <c:ser>
          <c:idx val="0"/>
          <c:order val="0"/>
          <c:tx>
            <c:strRef>
              <c:f>Sheet1!$B$1</c:f>
              <c:strCache>
                <c:ptCount val="1"/>
                <c:pt idx="0">
                  <c:v>Revenue (₹ Cr)</c:v>
                </c:pt>
              </c:strCache>
            </c:strRef>
          </c:tx>
          <c:spPr>
            <a:solidFill>
              <a:srgbClr val="2E3F63"/>
            </a:solidFill>
            <a:effectLst/>
          </c:spPr>
          <c:invertIfNegative val="0"/>
          <c:dLbls>
            <c:numFmt formatCode="#,##0" sourceLinked="0"/>
            <c:txPr>
              <a:bodyPr/>
              <a:lstStyle/>
              <a:p>
                <a:pPr>
                  <a:defRPr b="0" i="0" strike="noStrike" sz="1000" u="none">
                    <a:solidFill>
                      <a:srgbClr val="273043"/>
                    </a:solidFill>
                    <a:latin typeface="Arial"/>
                  </a:defRPr>
                </a:pPr>
              </a:p>
            </c:txPr>
            <c:showLegendKey val="0"/>
            <c:showVal val="1"/>
            <c:showCatName val="0"/>
            <c:showSerName val="0"/>
            <c:showPercent val="0"/>
            <c:showBubbleSize val="0"/>
            <c:showLeaderLines val="0"/>
          </c:dLbls>
          <c:cat>
            <c:multiLvlStrRef>
              <c:f>Sheet1!$A$2:$A$6</c:f>
              <c:multiLvlStrCache>
                <c:ptCount val="5"/>
                <c:lvl>
                  <c:pt idx="0">
                    <c:v>Laptop</c:v>
                  </c:pt>
                  <c:pt idx="1">
                    <c:v>Mobile</c:v>
                  </c:pt>
                  <c:pt idx="2">
                    <c:v>Book</c:v>
                  </c:pt>
                  <c:pt idx="3">
                    <c:v>Rice</c:v>
                  </c:pt>
                  <c:pt idx="4">
                    <c:v>Chair</c:v>
                  </c:pt>
                </c:lvl>
              </c:multiLvlStrCache>
            </c:multiLvlStrRef>
          </c:cat>
          <c:val>
            <c:numRef>
              <c:f>Sheet1!$B$2:$B$6</c:f>
              <c:numCache>
                <c:formatCode>General</c:formatCode>
                <c:ptCount val="5"/>
                <c:pt idx="0">
                  <c:v>2.54</c:v>
                </c:pt>
                <c:pt idx="1">
                  <c:v>2.53</c:v>
                </c:pt>
                <c:pt idx="2">
                  <c:v>2.5</c:v>
                </c:pt>
                <c:pt idx="3">
                  <c:v>2.22</c:v>
                </c:pt>
                <c:pt idx="4">
                  <c:v>2.15</c:v>
                </c:pt>
              </c:numCache>
            </c:numRef>
          </c:val>
        </c:ser>
        <c:dLbls>
          <c:numFmt formatCode="#,##0" sourceLinked="0"/>
          <c:txPr>
            <a:bodyPr/>
            <a:lstStyle/>
            <a:p>
              <a:pPr>
                <a:defRPr b="0" i="0" strike="noStrike" sz="1000" u="none">
                  <a:solidFill>
                    <a:srgbClr val="27304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73043"/>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B4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C2B4A"/>
          </a:solidFill>
          <a:ln/>
        </p:spPr>
      </p:sp>
      <p:sp>
        <p:nvSpPr>
          <p:cNvPr id="3" name="Shape 1"/>
          <p:cNvSpPr/>
          <p:nvPr/>
        </p:nvSpPr>
        <p:spPr>
          <a:xfrm>
            <a:off x="8869680" y="-2011680"/>
            <a:ext cx="5943600" cy="5943600"/>
          </a:xfrm>
          <a:prstGeom prst="ellipse">
            <a:avLst/>
          </a:prstGeom>
          <a:solidFill>
            <a:srgbClr val="2E3F63"/>
          </a:solidFill>
          <a:ln/>
        </p:spPr>
      </p:sp>
      <p:sp>
        <p:nvSpPr>
          <p:cNvPr id="4" name="Shape 2"/>
          <p:cNvSpPr/>
          <p:nvPr/>
        </p:nvSpPr>
        <p:spPr>
          <a:xfrm>
            <a:off x="10332720" y="4206240"/>
            <a:ext cx="3840480" cy="3840480"/>
          </a:xfrm>
          <a:prstGeom prst="ellipse">
            <a:avLst/>
          </a:prstGeom>
          <a:solidFill>
            <a:srgbClr val="2A9D8F">
              <a:alpha val="22000"/>
            </a:srgbClr>
          </a:solidFill>
          <a:ln/>
        </p:spPr>
      </p:sp>
      <p:sp>
        <p:nvSpPr>
          <p:cNvPr id="5" name="Text 3"/>
          <p:cNvSpPr/>
          <p:nvPr/>
        </p:nvSpPr>
        <p:spPr>
          <a:xfrm>
            <a:off x="731520" y="1965960"/>
            <a:ext cx="8686800" cy="365760"/>
          </a:xfrm>
          <a:prstGeom prst="rect">
            <a:avLst/>
          </a:prstGeom>
          <a:noFill/>
          <a:ln/>
        </p:spPr>
        <p:txBody>
          <a:bodyPr wrap="square" rtlCol="0" anchor="ctr"/>
          <a:lstStyle/>
          <a:p>
            <a:pPr indent="0" marL="0">
              <a:buNone/>
            </a:pPr>
            <a:r>
              <a:rPr lang="en-US" sz="1400" b="1" spc="200" kern="0" dirty="0">
                <a:solidFill>
                  <a:srgbClr val="E9C46A"/>
                </a:solidFill>
                <a:latin typeface="Calibri" pitchFamily="34" charset="0"/>
                <a:ea typeface="Calibri" pitchFamily="34" charset="-122"/>
                <a:cs typeface="Calibri" pitchFamily="34" charset="-120"/>
              </a:rPr>
              <a:t>DATA STORYTELLING &amp; STATISTICAL VALIDATION</a:t>
            </a:r>
            <a:endParaRPr lang="en-US" sz="1400" dirty="0"/>
          </a:p>
        </p:txBody>
      </p:sp>
      <p:sp>
        <p:nvSpPr>
          <p:cNvPr id="6" name="Text 4"/>
          <p:cNvSpPr/>
          <p:nvPr/>
        </p:nvSpPr>
        <p:spPr>
          <a:xfrm>
            <a:off x="731520" y="2377440"/>
            <a:ext cx="8778240" cy="1737360"/>
          </a:xfrm>
          <a:prstGeom prst="rect">
            <a:avLst/>
          </a:prstGeom>
          <a:noFill/>
          <a:ln/>
        </p:spPr>
        <p:txBody>
          <a:bodyPr wrap="square" rtlCol="0" anchor="ctr"/>
          <a:lstStyle/>
          <a:p>
            <a:pPr indent="0" marL="0">
              <a:lnSpc>
                <a:spcPts val="4800"/>
              </a:lnSpc>
              <a:buNone/>
            </a:pPr>
            <a:r>
              <a:rPr lang="en-US" sz="4200" b="1" dirty="0">
                <a:solidFill>
                  <a:srgbClr val="FFFFFF"/>
                </a:solidFill>
                <a:latin typeface="Georgia" pitchFamily="34" charset="0"/>
                <a:ea typeface="Georgia" pitchFamily="34" charset="-122"/>
                <a:cs typeface="Georgia" pitchFamily="34" charset="-120"/>
              </a:rPr>
              <a:t>From Raw Sales Data</a:t>
            </a:r>
            <a:endParaRPr lang="en-US" sz="4200" dirty="0"/>
          </a:p>
          <a:p>
            <a:pPr indent="0" marL="0">
              <a:lnSpc>
                <a:spcPts val="4800"/>
              </a:lnSpc>
              <a:buNone/>
            </a:pPr>
            <a:r>
              <a:rPr lang="en-US" sz="4200" b="1" dirty="0">
                <a:solidFill>
                  <a:srgbClr val="FFFFFF"/>
                </a:solidFill>
                <a:latin typeface="Georgia" pitchFamily="34" charset="0"/>
                <a:ea typeface="Georgia" pitchFamily="34" charset="-122"/>
                <a:cs typeface="Georgia" pitchFamily="34" charset="-120"/>
              </a:rPr>
              <a:t>to Business Insights</a:t>
            </a:r>
            <a:endParaRPr lang="en-US" sz="4200" dirty="0"/>
          </a:p>
        </p:txBody>
      </p:sp>
      <p:sp>
        <p:nvSpPr>
          <p:cNvPr id="7" name="Text 5"/>
          <p:cNvSpPr/>
          <p:nvPr/>
        </p:nvSpPr>
        <p:spPr>
          <a:xfrm>
            <a:off x="731520" y="4160520"/>
            <a:ext cx="8046720" cy="731520"/>
          </a:xfrm>
          <a:prstGeom prst="rect">
            <a:avLst/>
          </a:prstGeom>
          <a:noFill/>
          <a:ln/>
        </p:spPr>
        <p:txBody>
          <a:bodyPr wrap="square" rtlCol="0" anchor="ctr"/>
          <a:lstStyle/>
          <a:p>
            <a:pPr indent="0" marL="0">
              <a:lnSpc>
                <a:spcPts val="2000"/>
              </a:lnSpc>
              <a:buNone/>
            </a:pPr>
            <a:r>
              <a:rPr lang="en-US" sz="1400" dirty="0">
                <a:solidFill>
                  <a:srgbClr val="C9D3E0"/>
                </a:solidFill>
                <a:latin typeface="Calibri" pitchFamily="34" charset="0"/>
                <a:ea typeface="Calibri" pitchFamily="34" charset="-122"/>
                <a:cs typeface="Calibri" pitchFamily="34" charset="-120"/>
              </a:rPr>
              <a:t>A deep-dive into 1,000 sales transactions — cleaning, analysis, dashboarding and</a:t>
            </a:r>
            <a:endParaRPr lang="en-US" sz="1400" dirty="0"/>
          </a:p>
          <a:p>
            <a:pPr indent="0" marL="0">
              <a:lnSpc>
                <a:spcPts val="2000"/>
              </a:lnSpc>
              <a:buNone/>
            </a:pPr>
            <a:r>
              <a:rPr lang="en-US" sz="1400" dirty="0">
                <a:solidFill>
                  <a:srgbClr val="C9D3E0"/>
                </a:solidFill>
                <a:latin typeface="Calibri" pitchFamily="34" charset="0"/>
                <a:ea typeface="Calibri" pitchFamily="34" charset="-122"/>
                <a:cs typeface="Calibri" pitchFamily="34" charset="-120"/>
              </a:rPr>
              <a:t>hypothesis testing for the ApexPlanet Data Analytics Internship.</a:t>
            </a:r>
            <a:endParaRPr lang="en-US" sz="1400" dirty="0"/>
          </a:p>
        </p:txBody>
      </p:sp>
      <p:sp>
        <p:nvSpPr>
          <p:cNvPr id="8" name="Shape 6"/>
          <p:cNvSpPr/>
          <p:nvPr/>
        </p:nvSpPr>
        <p:spPr>
          <a:xfrm>
            <a:off x="731520" y="5166360"/>
            <a:ext cx="1280160" cy="0"/>
          </a:xfrm>
          <a:prstGeom prst="line">
            <a:avLst/>
          </a:prstGeom>
          <a:noFill/>
          <a:ln w="38100">
            <a:solidFill>
              <a:srgbClr val="2A9D8F"/>
            </a:solidFill>
            <a:prstDash val="solid"/>
          </a:ln>
        </p:spPr>
      </p:sp>
      <p:sp>
        <p:nvSpPr>
          <p:cNvPr id="9" name="Text 7"/>
          <p:cNvSpPr/>
          <p:nvPr/>
        </p:nvSpPr>
        <p:spPr>
          <a:xfrm>
            <a:off x="731520" y="5303520"/>
            <a:ext cx="548640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Prepared by  R. Purushotham Reddy</a:t>
            </a:r>
            <a:endParaRPr lang="en-US" sz="1300" dirty="0"/>
          </a:p>
        </p:txBody>
      </p:sp>
      <p:sp>
        <p:nvSpPr>
          <p:cNvPr id="10" name="Text 8"/>
          <p:cNvSpPr/>
          <p:nvPr/>
        </p:nvSpPr>
        <p:spPr>
          <a:xfrm>
            <a:off x="731520" y="5623560"/>
            <a:ext cx="7772400" cy="320040"/>
          </a:xfrm>
          <a:prstGeom prst="rect">
            <a:avLst/>
          </a:prstGeom>
          <a:noFill/>
          <a:ln/>
        </p:spPr>
        <p:txBody>
          <a:bodyPr wrap="square" rtlCol="0" anchor="ctr"/>
          <a:lstStyle/>
          <a:p>
            <a:pPr indent="0" marL="0">
              <a:buNone/>
            </a:pPr>
            <a:r>
              <a:rPr lang="en-US" sz="1100" dirty="0">
                <a:solidFill>
                  <a:srgbClr val="9FB0C6"/>
                </a:solidFill>
                <a:latin typeface="Calibri" pitchFamily="34" charset="0"/>
                <a:ea typeface="Calibri" pitchFamily="34" charset="-122"/>
                <a:cs typeface="Calibri" pitchFamily="34" charset="-120"/>
              </a:rPr>
              <a:t>Tool: Microsoft Power BI, Python &amp; SQL   |   Dataset: Cleaned Sales Dataset (1,000 records)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64592"/>
            <a:ext cx="11091672" cy="274320"/>
          </a:xfrm>
          <a:prstGeom prst="rect">
            <a:avLst/>
          </a:prstGeom>
          <a:noFill/>
          <a:ln/>
        </p:spPr>
        <p:txBody>
          <a:bodyPr wrap="square" rtlCol="0" anchor="ctr"/>
          <a:lstStyle/>
          <a:p>
            <a:pPr indent="0" marL="0">
              <a:buNone/>
            </a:pPr>
            <a:r>
              <a:rPr lang="en-US" sz="1200" b="1" spc="200" kern="0" dirty="0">
                <a:solidFill>
                  <a:srgbClr val="2A9D8F"/>
                </a:solidFill>
                <a:latin typeface="Calibri" pitchFamily="34" charset="0"/>
                <a:ea typeface="Calibri" pitchFamily="34" charset="-122"/>
                <a:cs typeface="Calibri" pitchFamily="34" charset="-120"/>
              </a:rPr>
              <a:t>THE BUSINESS PROBLEM</a:t>
            </a:r>
            <a:endParaRPr lang="en-US" sz="1200" dirty="0"/>
          </a:p>
        </p:txBody>
      </p:sp>
      <p:sp>
        <p:nvSpPr>
          <p:cNvPr id="3" name="Text 1"/>
          <p:cNvSpPr/>
          <p:nvPr/>
        </p:nvSpPr>
        <p:spPr>
          <a:xfrm>
            <a:off x="548640" y="411480"/>
            <a:ext cx="11091672" cy="731520"/>
          </a:xfrm>
          <a:prstGeom prst="rect">
            <a:avLst/>
          </a:prstGeom>
          <a:noFill/>
          <a:ln/>
        </p:spPr>
        <p:txBody>
          <a:bodyPr wrap="square" rtlCol="0" anchor="ctr"/>
          <a:lstStyle/>
          <a:p>
            <a:pPr indent="0" marL="0">
              <a:buNone/>
            </a:pPr>
            <a:r>
              <a:rPr lang="en-US" sz="3000" b="1" dirty="0">
                <a:solidFill>
                  <a:srgbClr val="1C2B4A"/>
                </a:solidFill>
                <a:latin typeface="Georgia" pitchFamily="34" charset="0"/>
                <a:ea typeface="Georgia" pitchFamily="34" charset="-122"/>
                <a:cs typeface="Georgia" pitchFamily="34" charset="-120"/>
              </a:rPr>
              <a:t>Sales data is piling up — but insight isn't.</a:t>
            </a:r>
            <a:endParaRPr lang="en-US" sz="3000" dirty="0"/>
          </a:p>
        </p:txBody>
      </p:sp>
      <p:sp>
        <p:nvSpPr>
          <p:cNvPr id="4" name="Text 2"/>
          <p:cNvSpPr/>
          <p:nvPr/>
        </p:nvSpPr>
        <p:spPr>
          <a:xfrm>
            <a:off x="548640" y="1371600"/>
            <a:ext cx="6400800" cy="1188720"/>
          </a:xfrm>
          <a:prstGeom prst="rect">
            <a:avLst/>
          </a:prstGeom>
          <a:noFill/>
          <a:ln/>
        </p:spPr>
        <p:txBody>
          <a:bodyPr wrap="square" rtlCol="0" anchor="ctr"/>
          <a:lstStyle/>
          <a:p>
            <a:pPr indent="0" marL="0">
              <a:lnSpc>
                <a:spcPts val="2400"/>
              </a:lnSpc>
              <a:buNone/>
            </a:pPr>
            <a:r>
              <a:rPr lang="en-US" sz="1500" dirty="0">
                <a:solidFill>
                  <a:srgbClr val="273043"/>
                </a:solidFill>
                <a:latin typeface="Calibri" pitchFamily="34" charset="0"/>
                <a:ea typeface="Calibri" pitchFamily="34" charset="-122"/>
                <a:cs typeface="Calibri" pitchFamily="34" charset="-120"/>
              </a:rPr>
              <a:t>Every month, thousands of sales transactions flow in across cities, categories and customers. On its own, this raw data is too large and too messy for anyone to read through and act on.</a:t>
            </a:r>
            <a:endParaRPr lang="en-US" sz="1500" dirty="0"/>
          </a:p>
        </p:txBody>
      </p:sp>
      <p:sp>
        <p:nvSpPr>
          <p:cNvPr id="5" name="Text 3"/>
          <p:cNvSpPr/>
          <p:nvPr/>
        </p:nvSpPr>
        <p:spPr>
          <a:xfrm>
            <a:off x="548640" y="2606040"/>
            <a:ext cx="6400800" cy="548640"/>
          </a:xfrm>
          <a:prstGeom prst="rect">
            <a:avLst/>
          </a:prstGeom>
          <a:noFill/>
          <a:ln/>
        </p:spPr>
        <p:txBody>
          <a:bodyPr wrap="square" rtlCol="0" anchor="ctr"/>
          <a:lstStyle/>
          <a:p>
            <a:pPr indent="0" marL="0">
              <a:lnSpc>
                <a:spcPts val="2200"/>
              </a:lnSpc>
              <a:buNone/>
            </a:pPr>
            <a:r>
              <a:rPr lang="en-US" sz="1500" dirty="0">
                <a:solidFill>
                  <a:srgbClr val="273043"/>
                </a:solidFill>
                <a:latin typeface="Calibri" pitchFamily="34" charset="0"/>
                <a:ea typeface="Calibri" pitchFamily="34" charset="-122"/>
                <a:cs typeface="Calibri" pitchFamily="34" charset="-120"/>
              </a:rPr>
              <a:t>Without a structured analysis, management has no reliable way to answer basic but critical questions:</a:t>
            </a:r>
            <a:endParaRPr lang="en-US" sz="1500" dirty="0"/>
          </a:p>
        </p:txBody>
      </p:sp>
      <p:sp>
        <p:nvSpPr>
          <p:cNvPr id="6" name="Shape 4"/>
          <p:cNvSpPr/>
          <p:nvPr/>
        </p:nvSpPr>
        <p:spPr>
          <a:xfrm>
            <a:off x="548640" y="3319272"/>
            <a:ext cx="109728" cy="109728"/>
          </a:xfrm>
          <a:prstGeom prst="ellipse">
            <a:avLst/>
          </a:prstGeom>
          <a:solidFill>
            <a:srgbClr val="E76F51"/>
          </a:solidFill>
          <a:ln/>
        </p:spPr>
      </p:sp>
      <p:sp>
        <p:nvSpPr>
          <p:cNvPr id="7" name="Text 5"/>
          <p:cNvSpPr/>
          <p:nvPr/>
        </p:nvSpPr>
        <p:spPr>
          <a:xfrm>
            <a:off x="822960" y="3200400"/>
            <a:ext cx="6126480" cy="411480"/>
          </a:xfrm>
          <a:prstGeom prst="rect">
            <a:avLst/>
          </a:prstGeom>
          <a:noFill/>
          <a:ln/>
        </p:spPr>
        <p:txBody>
          <a:bodyPr wrap="square" rtlCol="0" anchor="ctr"/>
          <a:lstStyle/>
          <a:p>
            <a:pPr indent="0" marL="0">
              <a:buNone/>
            </a:pPr>
            <a:r>
              <a:rPr lang="en-US" sz="1350" dirty="0">
                <a:solidFill>
                  <a:srgbClr val="273043"/>
                </a:solidFill>
                <a:latin typeface="Calibri" pitchFamily="34" charset="0"/>
                <a:ea typeface="Calibri" pitchFamily="34" charset="-122"/>
                <a:cs typeface="Calibri" pitchFamily="34" charset="-120"/>
              </a:rPr>
              <a:t>Which products and categories actually drive revenue?</a:t>
            </a:r>
            <a:endParaRPr lang="en-US" sz="1350" dirty="0"/>
          </a:p>
        </p:txBody>
      </p:sp>
      <p:sp>
        <p:nvSpPr>
          <p:cNvPr id="8" name="Shape 6"/>
          <p:cNvSpPr/>
          <p:nvPr/>
        </p:nvSpPr>
        <p:spPr>
          <a:xfrm>
            <a:off x="548640" y="3822192"/>
            <a:ext cx="109728" cy="109728"/>
          </a:xfrm>
          <a:prstGeom prst="ellipse">
            <a:avLst/>
          </a:prstGeom>
          <a:solidFill>
            <a:srgbClr val="E76F51"/>
          </a:solidFill>
          <a:ln/>
        </p:spPr>
      </p:sp>
      <p:sp>
        <p:nvSpPr>
          <p:cNvPr id="9" name="Text 7"/>
          <p:cNvSpPr/>
          <p:nvPr/>
        </p:nvSpPr>
        <p:spPr>
          <a:xfrm>
            <a:off x="822960" y="3703320"/>
            <a:ext cx="6126480" cy="411480"/>
          </a:xfrm>
          <a:prstGeom prst="rect">
            <a:avLst/>
          </a:prstGeom>
          <a:noFill/>
          <a:ln/>
        </p:spPr>
        <p:txBody>
          <a:bodyPr wrap="square" rtlCol="0" anchor="ctr"/>
          <a:lstStyle/>
          <a:p>
            <a:pPr indent="0" marL="0">
              <a:buNone/>
            </a:pPr>
            <a:r>
              <a:rPr lang="en-US" sz="1350" dirty="0">
                <a:solidFill>
                  <a:srgbClr val="273043"/>
                </a:solidFill>
                <a:latin typeface="Calibri" pitchFamily="34" charset="0"/>
                <a:ea typeface="Calibri" pitchFamily="34" charset="-122"/>
                <a:cs typeface="Calibri" pitchFamily="34" charset="-120"/>
              </a:rPr>
              <a:t>Which cities and customers are most valuable?</a:t>
            </a:r>
            <a:endParaRPr lang="en-US" sz="1350" dirty="0"/>
          </a:p>
        </p:txBody>
      </p:sp>
      <p:sp>
        <p:nvSpPr>
          <p:cNvPr id="10" name="Shape 8"/>
          <p:cNvSpPr/>
          <p:nvPr/>
        </p:nvSpPr>
        <p:spPr>
          <a:xfrm>
            <a:off x="548640" y="4325112"/>
            <a:ext cx="109728" cy="109728"/>
          </a:xfrm>
          <a:prstGeom prst="ellipse">
            <a:avLst/>
          </a:prstGeom>
          <a:solidFill>
            <a:srgbClr val="E76F51"/>
          </a:solidFill>
          <a:ln/>
        </p:spPr>
      </p:sp>
      <p:sp>
        <p:nvSpPr>
          <p:cNvPr id="11" name="Text 9"/>
          <p:cNvSpPr/>
          <p:nvPr/>
        </p:nvSpPr>
        <p:spPr>
          <a:xfrm>
            <a:off x="822960" y="4206240"/>
            <a:ext cx="6126480" cy="411480"/>
          </a:xfrm>
          <a:prstGeom prst="rect">
            <a:avLst/>
          </a:prstGeom>
          <a:noFill/>
          <a:ln/>
        </p:spPr>
        <p:txBody>
          <a:bodyPr wrap="square" rtlCol="0" anchor="ctr"/>
          <a:lstStyle/>
          <a:p>
            <a:pPr indent="0" marL="0">
              <a:buNone/>
            </a:pPr>
            <a:r>
              <a:rPr lang="en-US" sz="1350" dirty="0">
                <a:solidFill>
                  <a:srgbClr val="273043"/>
                </a:solidFill>
                <a:latin typeface="Calibri" pitchFamily="34" charset="0"/>
                <a:ea typeface="Calibri" pitchFamily="34" charset="-122"/>
                <a:cs typeface="Calibri" pitchFamily="34" charset="-120"/>
              </a:rPr>
              <a:t>Is the business genuinely selling in high-value orders, or is that just a guess?</a:t>
            </a:r>
            <a:endParaRPr lang="en-US" sz="1350" dirty="0"/>
          </a:p>
        </p:txBody>
      </p:sp>
      <p:sp>
        <p:nvSpPr>
          <p:cNvPr id="12" name="Shape 10"/>
          <p:cNvSpPr/>
          <p:nvPr/>
        </p:nvSpPr>
        <p:spPr>
          <a:xfrm>
            <a:off x="7360920" y="1371600"/>
            <a:ext cx="4297680" cy="4251960"/>
          </a:xfrm>
          <a:prstGeom prst="roundRect">
            <a:avLst>
              <a:gd name="adj" fmla="val 2581"/>
            </a:avLst>
          </a:prstGeom>
          <a:solidFill>
            <a:srgbClr val="1C2B4A"/>
          </a:solidFill>
          <a:ln/>
        </p:spPr>
      </p:sp>
      <p:sp>
        <p:nvSpPr>
          <p:cNvPr id="13" name="Text 11"/>
          <p:cNvSpPr/>
          <p:nvPr/>
        </p:nvSpPr>
        <p:spPr>
          <a:xfrm>
            <a:off x="7680960" y="1645920"/>
            <a:ext cx="3657600" cy="274320"/>
          </a:xfrm>
          <a:prstGeom prst="rect">
            <a:avLst/>
          </a:prstGeom>
          <a:noFill/>
          <a:ln/>
        </p:spPr>
        <p:txBody>
          <a:bodyPr wrap="square" rtlCol="0" anchor="ctr"/>
          <a:lstStyle/>
          <a:p>
            <a:pPr indent="0" marL="0">
              <a:buNone/>
            </a:pPr>
            <a:r>
              <a:rPr lang="en-US" sz="1100" b="1" spc="200" kern="0" dirty="0">
                <a:solidFill>
                  <a:srgbClr val="E9C46A"/>
                </a:solidFill>
                <a:latin typeface="Calibri" pitchFamily="34" charset="0"/>
                <a:ea typeface="Calibri" pitchFamily="34" charset="-122"/>
                <a:cs typeface="Calibri" pitchFamily="34" charset="-120"/>
              </a:rPr>
              <a:t>WHY IT MATTERS</a:t>
            </a:r>
            <a:endParaRPr lang="en-US" sz="1100" dirty="0"/>
          </a:p>
        </p:txBody>
      </p:sp>
      <p:sp>
        <p:nvSpPr>
          <p:cNvPr id="14" name="Text 12"/>
          <p:cNvSpPr/>
          <p:nvPr/>
        </p:nvSpPr>
        <p:spPr>
          <a:xfrm>
            <a:off x="7680960" y="2011680"/>
            <a:ext cx="3657600" cy="1280160"/>
          </a:xfrm>
          <a:prstGeom prst="rect">
            <a:avLst/>
          </a:prstGeom>
          <a:noFill/>
          <a:ln/>
        </p:spPr>
        <p:txBody>
          <a:bodyPr wrap="square" rtlCol="0" anchor="ctr"/>
          <a:lstStyle/>
          <a:p>
            <a:pPr indent="0" marL="0">
              <a:lnSpc>
                <a:spcPts val="2000"/>
              </a:lnSpc>
              <a:buNone/>
            </a:pPr>
            <a:r>
              <a:rPr lang="en-US" sz="1300" dirty="0">
                <a:solidFill>
                  <a:srgbClr val="D7DEEA"/>
                </a:solidFill>
                <a:latin typeface="Calibri" pitchFamily="34" charset="0"/>
                <a:ea typeface="Calibri" pitchFamily="34" charset="-122"/>
                <a:cs typeface="Calibri" pitchFamily="34" charset="-120"/>
              </a:rPr>
              <a:t>Without clear analytics, decisions on marketing spend, inventory and customer targeting are made on gut feel — risking wasted budget and missed revenue.</a:t>
            </a:r>
            <a:endParaRPr lang="en-US" sz="1300" dirty="0"/>
          </a:p>
        </p:txBody>
      </p:sp>
      <p:sp>
        <p:nvSpPr>
          <p:cNvPr id="15" name="Text 13"/>
          <p:cNvSpPr/>
          <p:nvPr/>
        </p:nvSpPr>
        <p:spPr>
          <a:xfrm>
            <a:off x="7680960" y="3429000"/>
            <a:ext cx="3657600" cy="1920240"/>
          </a:xfrm>
          <a:prstGeom prst="rect">
            <a:avLst/>
          </a:prstGeom>
          <a:noFill/>
          <a:ln/>
        </p:spPr>
        <p:txBody>
          <a:bodyPr wrap="square" rtlCol="0" anchor="ctr"/>
          <a:lstStyle/>
          <a:p>
            <a:pPr indent="0" marL="0">
              <a:lnSpc>
                <a:spcPts val="2000"/>
              </a:lnSpc>
              <a:buNone/>
            </a:pPr>
            <a:r>
              <a:rPr lang="en-US" sz="1300" i="1" dirty="0">
                <a:solidFill>
                  <a:srgbClr val="FFFFFF"/>
                </a:solidFill>
                <a:latin typeface="Calibri" pitchFamily="34" charset="0"/>
                <a:ea typeface="Calibri" pitchFamily="34" charset="-122"/>
                <a:cs typeface="Calibri" pitchFamily="34" charset="-120"/>
              </a:rPr>
              <a:t>This project turns 1,000 raw rows of transactions into a clean, analysis-ready dataset — and a set of decisions the business can act on.</a:t>
            </a:r>
            <a:endParaRPr lang="en-US" sz="1300" dirty="0"/>
          </a:p>
        </p:txBody>
      </p:sp>
      <p:sp>
        <p:nvSpPr>
          <p:cNvPr id="16" name="Text 14"/>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ApexPlanet Data Analytics Internship  |  Task 4</a:t>
            </a:r>
            <a:endParaRPr lang="en-US" sz="900" dirty="0"/>
          </a:p>
        </p:txBody>
      </p:sp>
      <p:sp>
        <p:nvSpPr>
          <p:cNvPr id="17" name="Text 1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64592"/>
            <a:ext cx="11091672" cy="274320"/>
          </a:xfrm>
          <a:prstGeom prst="rect">
            <a:avLst/>
          </a:prstGeom>
          <a:noFill/>
          <a:ln/>
        </p:spPr>
        <p:txBody>
          <a:bodyPr wrap="square" rtlCol="0" anchor="ctr"/>
          <a:lstStyle/>
          <a:p>
            <a:pPr indent="0" marL="0">
              <a:buNone/>
            </a:pPr>
            <a:r>
              <a:rPr lang="en-US" sz="1200" b="1" spc="200" kern="0" dirty="0">
                <a:solidFill>
                  <a:srgbClr val="2A9D8F"/>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411480"/>
            <a:ext cx="11091672" cy="731520"/>
          </a:xfrm>
          <a:prstGeom prst="rect">
            <a:avLst/>
          </a:prstGeom>
          <a:noFill/>
          <a:ln/>
        </p:spPr>
        <p:txBody>
          <a:bodyPr wrap="square" rtlCol="0" anchor="ctr"/>
          <a:lstStyle/>
          <a:p>
            <a:pPr indent="0" marL="0">
              <a:buNone/>
            </a:pPr>
            <a:r>
              <a:rPr lang="en-US" sz="3000" b="1" dirty="0">
                <a:solidFill>
                  <a:srgbClr val="1C2B4A"/>
                </a:solidFill>
                <a:latin typeface="Georgia" pitchFamily="34" charset="0"/>
                <a:ea typeface="Georgia" pitchFamily="34" charset="-122"/>
                <a:cs typeface="Georgia" pitchFamily="34" charset="-120"/>
              </a:rPr>
              <a:t>Five steps, one connected story</a:t>
            </a:r>
            <a:endParaRPr lang="en-US" sz="3000" dirty="0"/>
          </a:p>
        </p:txBody>
      </p:sp>
      <p:sp>
        <p:nvSpPr>
          <p:cNvPr id="4" name="Text 2"/>
          <p:cNvSpPr/>
          <p:nvPr/>
        </p:nvSpPr>
        <p:spPr>
          <a:xfrm>
            <a:off x="548640" y="1234440"/>
            <a:ext cx="10515600" cy="457200"/>
          </a:xfrm>
          <a:prstGeom prst="rect">
            <a:avLst/>
          </a:prstGeom>
          <a:noFill/>
          <a:ln/>
        </p:spPr>
        <p:txBody>
          <a:bodyPr wrap="square" rtlCol="0" anchor="ctr"/>
          <a:lstStyle/>
          <a:p>
            <a:pPr indent="0" marL="0">
              <a:lnSpc>
                <a:spcPts val="2000"/>
              </a:lnSpc>
              <a:buNone/>
            </a:pPr>
            <a:r>
              <a:rPr lang="en-US" sz="1400" dirty="0">
                <a:solidFill>
                  <a:srgbClr val="6B7280"/>
                </a:solidFill>
                <a:latin typeface="Calibri" pitchFamily="34" charset="0"/>
                <a:ea typeface="Calibri" pitchFamily="34" charset="-122"/>
                <a:cs typeface="Calibri" pitchFamily="34" charset="-120"/>
              </a:rPr>
              <a:t>Rather than jumping straight to charts, the project followed a deliberate analytics workflow — each step building the foundation for the next.</a:t>
            </a:r>
            <a:endParaRPr lang="en-US" sz="1400" dirty="0"/>
          </a:p>
        </p:txBody>
      </p:sp>
      <p:sp>
        <p:nvSpPr>
          <p:cNvPr id="5" name="Shape 3"/>
          <p:cNvSpPr/>
          <p:nvPr/>
        </p:nvSpPr>
        <p:spPr>
          <a:xfrm>
            <a:off x="548640" y="1965960"/>
            <a:ext cx="2084832" cy="4023360"/>
          </a:xfrm>
          <a:prstGeom prst="roundRect">
            <a:avLst>
              <a:gd name="adj" fmla="val 4386"/>
            </a:avLst>
          </a:prstGeom>
          <a:solidFill>
            <a:srgbClr val="F4F6F9"/>
          </a:solidFill>
          <a:ln/>
        </p:spPr>
      </p:sp>
      <p:sp>
        <p:nvSpPr>
          <p:cNvPr id="6" name="Shape 4"/>
          <p:cNvSpPr/>
          <p:nvPr/>
        </p:nvSpPr>
        <p:spPr>
          <a:xfrm>
            <a:off x="749808" y="2221992"/>
            <a:ext cx="594360" cy="594360"/>
          </a:xfrm>
          <a:prstGeom prst="roundRect">
            <a:avLst>
              <a:gd name="adj" fmla="val 50769"/>
            </a:avLst>
          </a:prstGeom>
          <a:solidFill>
            <a:srgbClr val="1C2B4A"/>
          </a:solidFill>
          <a:ln/>
        </p:spPr>
      </p:sp>
      <p:sp>
        <p:nvSpPr>
          <p:cNvPr id="7" name="Text 5"/>
          <p:cNvSpPr/>
          <p:nvPr/>
        </p:nvSpPr>
        <p:spPr>
          <a:xfrm>
            <a:off x="749808" y="2221992"/>
            <a:ext cx="594360" cy="59436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01</a:t>
            </a:r>
            <a:endParaRPr lang="en-US" sz="1800" dirty="0"/>
          </a:p>
        </p:txBody>
      </p:sp>
      <p:sp>
        <p:nvSpPr>
          <p:cNvPr id="8" name="Text 6"/>
          <p:cNvSpPr/>
          <p:nvPr/>
        </p:nvSpPr>
        <p:spPr>
          <a:xfrm>
            <a:off x="731520" y="2971800"/>
            <a:ext cx="1719072" cy="640080"/>
          </a:xfrm>
          <a:prstGeom prst="rect">
            <a:avLst/>
          </a:prstGeom>
          <a:noFill/>
          <a:ln/>
        </p:spPr>
        <p:txBody>
          <a:bodyPr wrap="square" rtlCol="0" anchor="ctr"/>
          <a:lstStyle/>
          <a:p>
            <a:pPr indent="0" marL="0">
              <a:lnSpc>
                <a:spcPts val="1700"/>
              </a:lnSpc>
              <a:buNone/>
            </a:pPr>
            <a:r>
              <a:rPr lang="en-US" sz="1450" b="1" dirty="0">
                <a:solidFill>
                  <a:srgbClr val="1C2B4A"/>
                </a:solidFill>
                <a:latin typeface="Calibri" pitchFamily="34" charset="0"/>
                <a:ea typeface="Calibri" pitchFamily="34" charset="-122"/>
                <a:cs typeface="Calibri" pitchFamily="34" charset="-120"/>
              </a:rPr>
              <a:t>Cleaned the Data</a:t>
            </a:r>
            <a:endParaRPr lang="en-US" sz="1450" dirty="0"/>
          </a:p>
        </p:txBody>
      </p:sp>
      <p:sp>
        <p:nvSpPr>
          <p:cNvPr id="9" name="Text 7"/>
          <p:cNvSpPr/>
          <p:nvPr/>
        </p:nvSpPr>
        <p:spPr>
          <a:xfrm>
            <a:off x="731520" y="3657600"/>
            <a:ext cx="1719072" cy="2148840"/>
          </a:xfrm>
          <a:prstGeom prst="rect">
            <a:avLst/>
          </a:prstGeom>
          <a:noFill/>
          <a:ln/>
        </p:spPr>
        <p:txBody>
          <a:bodyPr wrap="square" rtlCol="0" anchor="ctr"/>
          <a:lstStyle/>
          <a:p>
            <a:pPr indent="0" marL="0">
              <a:lnSpc>
                <a:spcPts val="1500"/>
              </a:lnSpc>
              <a:buNone/>
            </a:pPr>
            <a:r>
              <a:rPr lang="en-US" sz="1100" dirty="0">
                <a:solidFill>
                  <a:srgbClr val="6B7280"/>
                </a:solidFill>
                <a:latin typeface="Calibri" pitchFamily="34" charset="0"/>
                <a:ea typeface="Calibri" pitchFamily="34" charset="-122"/>
                <a:cs typeface="Calibri" pitchFamily="34" charset="-120"/>
              </a:rPr>
              <a:t>Fixed missing values, duplicates and formatting issues to build a reliable dataset.</a:t>
            </a:r>
            <a:endParaRPr lang="en-US" sz="1100" dirty="0"/>
          </a:p>
        </p:txBody>
      </p:sp>
      <p:sp>
        <p:nvSpPr>
          <p:cNvPr id="10" name="Shape 8"/>
          <p:cNvSpPr/>
          <p:nvPr/>
        </p:nvSpPr>
        <p:spPr>
          <a:xfrm>
            <a:off x="2798064" y="1965960"/>
            <a:ext cx="2084832" cy="4023360"/>
          </a:xfrm>
          <a:prstGeom prst="roundRect">
            <a:avLst>
              <a:gd name="adj" fmla="val 4386"/>
            </a:avLst>
          </a:prstGeom>
          <a:solidFill>
            <a:srgbClr val="F4F6F9"/>
          </a:solidFill>
          <a:ln/>
        </p:spPr>
      </p:sp>
      <p:sp>
        <p:nvSpPr>
          <p:cNvPr id="11" name="Shape 9"/>
          <p:cNvSpPr/>
          <p:nvPr/>
        </p:nvSpPr>
        <p:spPr>
          <a:xfrm>
            <a:off x="2999232" y="2221992"/>
            <a:ext cx="594360" cy="594360"/>
          </a:xfrm>
          <a:prstGeom prst="roundRect">
            <a:avLst>
              <a:gd name="adj" fmla="val 50769"/>
            </a:avLst>
          </a:prstGeom>
          <a:solidFill>
            <a:srgbClr val="2E3F63"/>
          </a:solidFill>
          <a:ln/>
        </p:spPr>
      </p:sp>
      <p:sp>
        <p:nvSpPr>
          <p:cNvPr id="12" name="Text 10"/>
          <p:cNvSpPr/>
          <p:nvPr/>
        </p:nvSpPr>
        <p:spPr>
          <a:xfrm>
            <a:off x="2999232" y="2221992"/>
            <a:ext cx="594360" cy="59436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02</a:t>
            </a:r>
            <a:endParaRPr lang="en-US" sz="1800" dirty="0"/>
          </a:p>
        </p:txBody>
      </p:sp>
      <p:sp>
        <p:nvSpPr>
          <p:cNvPr id="13" name="Text 11"/>
          <p:cNvSpPr/>
          <p:nvPr/>
        </p:nvSpPr>
        <p:spPr>
          <a:xfrm>
            <a:off x="2980944" y="2971800"/>
            <a:ext cx="1719072" cy="640080"/>
          </a:xfrm>
          <a:prstGeom prst="rect">
            <a:avLst/>
          </a:prstGeom>
          <a:noFill/>
          <a:ln/>
        </p:spPr>
        <p:txBody>
          <a:bodyPr wrap="square" rtlCol="0" anchor="ctr"/>
          <a:lstStyle/>
          <a:p>
            <a:pPr indent="0" marL="0">
              <a:lnSpc>
                <a:spcPts val="1700"/>
              </a:lnSpc>
              <a:buNone/>
            </a:pPr>
            <a:r>
              <a:rPr lang="en-US" sz="1450" b="1" dirty="0">
                <a:solidFill>
                  <a:srgbClr val="1C2B4A"/>
                </a:solidFill>
                <a:latin typeface="Calibri" pitchFamily="34" charset="0"/>
                <a:ea typeface="Calibri" pitchFamily="34" charset="-122"/>
                <a:cs typeface="Calibri" pitchFamily="34" charset="-120"/>
              </a:rPr>
              <a:t>Explored the Data</a:t>
            </a:r>
            <a:endParaRPr lang="en-US" sz="1450" dirty="0"/>
          </a:p>
        </p:txBody>
      </p:sp>
      <p:sp>
        <p:nvSpPr>
          <p:cNvPr id="14" name="Text 12"/>
          <p:cNvSpPr/>
          <p:nvPr/>
        </p:nvSpPr>
        <p:spPr>
          <a:xfrm>
            <a:off x="2980944" y="3657600"/>
            <a:ext cx="1719072" cy="2148840"/>
          </a:xfrm>
          <a:prstGeom prst="rect">
            <a:avLst/>
          </a:prstGeom>
          <a:noFill/>
          <a:ln/>
        </p:spPr>
        <p:txBody>
          <a:bodyPr wrap="square" rtlCol="0" anchor="ctr"/>
          <a:lstStyle/>
          <a:p>
            <a:pPr indent="0" marL="0">
              <a:lnSpc>
                <a:spcPts val="1500"/>
              </a:lnSpc>
              <a:buNone/>
            </a:pPr>
            <a:r>
              <a:rPr lang="en-US" sz="1100" dirty="0">
                <a:solidFill>
                  <a:srgbClr val="6B7280"/>
                </a:solidFill>
                <a:latin typeface="Calibri" pitchFamily="34" charset="0"/>
                <a:ea typeface="Calibri" pitchFamily="34" charset="-122"/>
                <a:cs typeface="Calibri" pitchFamily="34" charset="-120"/>
              </a:rPr>
              <a:t>Ran EDA to understand distributions, trends and relationships between variables.</a:t>
            </a:r>
            <a:endParaRPr lang="en-US" sz="1100" dirty="0"/>
          </a:p>
        </p:txBody>
      </p:sp>
      <p:sp>
        <p:nvSpPr>
          <p:cNvPr id="15" name="Shape 13"/>
          <p:cNvSpPr/>
          <p:nvPr/>
        </p:nvSpPr>
        <p:spPr>
          <a:xfrm>
            <a:off x="5047488" y="1965960"/>
            <a:ext cx="2084832" cy="4023360"/>
          </a:xfrm>
          <a:prstGeom prst="roundRect">
            <a:avLst>
              <a:gd name="adj" fmla="val 4386"/>
            </a:avLst>
          </a:prstGeom>
          <a:solidFill>
            <a:srgbClr val="F4F6F9"/>
          </a:solidFill>
          <a:ln/>
        </p:spPr>
      </p:sp>
      <p:sp>
        <p:nvSpPr>
          <p:cNvPr id="16" name="Shape 14"/>
          <p:cNvSpPr/>
          <p:nvPr/>
        </p:nvSpPr>
        <p:spPr>
          <a:xfrm>
            <a:off x="5248656" y="2221992"/>
            <a:ext cx="594360" cy="594360"/>
          </a:xfrm>
          <a:prstGeom prst="roundRect">
            <a:avLst>
              <a:gd name="adj" fmla="val 50769"/>
            </a:avLst>
          </a:prstGeom>
          <a:solidFill>
            <a:srgbClr val="2A9D8F"/>
          </a:solidFill>
          <a:ln/>
        </p:spPr>
      </p:sp>
      <p:sp>
        <p:nvSpPr>
          <p:cNvPr id="17" name="Text 15"/>
          <p:cNvSpPr/>
          <p:nvPr/>
        </p:nvSpPr>
        <p:spPr>
          <a:xfrm>
            <a:off x="5248656" y="2221992"/>
            <a:ext cx="594360" cy="59436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03</a:t>
            </a:r>
            <a:endParaRPr lang="en-US" sz="1800" dirty="0"/>
          </a:p>
        </p:txBody>
      </p:sp>
      <p:sp>
        <p:nvSpPr>
          <p:cNvPr id="18" name="Text 16"/>
          <p:cNvSpPr/>
          <p:nvPr/>
        </p:nvSpPr>
        <p:spPr>
          <a:xfrm>
            <a:off x="5230368" y="2971800"/>
            <a:ext cx="1719072" cy="640080"/>
          </a:xfrm>
          <a:prstGeom prst="rect">
            <a:avLst/>
          </a:prstGeom>
          <a:noFill/>
          <a:ln/>
        </p:spPr>
        <p:txBody>
          <a:bodyPr wrap="square" rtlCol="0" anchor="ctr"/>
          <a:lstStyle/>
          <a:p>
            <a:pPr indent="0" marL="0">
              <a:lnSpc>
                <a:spcPts val="1700"/>
              </a:lnSpc>
              <a:buNone/>
            </a:pPr>
            <a:r>
              <a:rPr lang="en-US" sz="1450" b="1" dirty="0">
                <a:solidFill>
                  <a:srgbClr val="1C2B4A"/>
                </a:solidFill>
                <a:latin typeface="Calibri" pitchFamily="34" charset="0"/>
                <a:ea typeface="Calibri" pitchFamily="34" charset="-122"/>
                <a:cs typeface="Calibri" pitchFamily="34" charset="-120"/>
              </a:rPr>
              <a:t>Queried with SQL</a:t>
            </a:r>
            <a:endParaRPr lang="en-US" sz="1450" dirty="0"/>
          </a:p>
        </p:txBody>
      </p:sp>
      <p:sp>
        <p:nvSpPr>
          <p:cNvPr id="19" name="Text 17"/>
          <p:cNvSpPr/>
          <p:nvPr/>
        </p:nvSpPr>
        <p:spPr>
          <a:xfrm>
            <a:off x="5230368" y="3657600"/>
            <a:ext cx="1719072" cy="2148840"/>
          </a:xfrm>
          <a:prstGeom prst="rect">
            <a:avLst/>
          </a:prstGeom>
          <a:noFill/>
          <a:ln/>
        </p:spPr>
        <p:txBody>
          <a:bodyPr wrap="square" rtlCol="0" anchor="ctr"/>
          <a:lstStyle/>
          <a:p>
            <a:pPr indent="0" marL="0">
              <a:lnSpc>
                <a:spcPts val="1500"/>
              </a:lnSpc>
              <a:buNone/>
            </a:pPr>
            <a:r>
              <a:rPr lang="en-US" sz="1100" dirty="0">
                <a:solidFill>
                  <a:srgbClr val="6B7280"/>
                </a:solidFill>
                <a:latin typeface="Calibri" pitchFamily="34" charset="0"/>
                <a:ea typeface="Calibri" pitchFamily="34" charset="-122"/>
                <a:cs typeface="Calibri" pitchFamily="34" charset="-120"/>
              </a:rPr>
              <a:t>Answered specific business questions using filtering, aggregation and joins.</a:t>
            </a:r>
            <a:endParaRPr lang="en-US" sz="1100" dirty="0"/>
          </a:p>
        </p:txBody>
      </p:sp>
      <p:sp>
        <p:nvSpPr>
          <p:cNvPr id="20" name="Shape 18"/>
          <p:cNvSpPr/>
          <p:nvPr/>
        </p:nvSpPr>
        <p:spPr>
          <a:xfrm>
            <a:off x="7296912" y="1965960"/>
            <a:ext cx="2084832" cy="4023360"/>
          </a:xfrm>
          <a:prstGeom prst="roundRect">
            <a:avLst>
              <a:gd name="adj" fmla="val 4386"/>
            </a:avLst>
          </a:prstGeom>
          <a:solidFill>
            <a:srgbClr val="F4F6F9"/>
          </a:solidFill>
          <a:ln/>
        </p:spPr>
      </p:sp>
      <p:sp>
        <p:nvSpPr>
          <p:cNvPr id="21" name="Shape 19"/>
          <p:cNvSpPr/>
          <p:nvPr/>
        </p:nvSpPr>
        <p:spPr>
          <a:xfrm>
            <a:off x="7498080" y="2221992"/>
            <a:ext cx="594360" cy="594360"/>
          </a:xfrm>
          <a:prstGeom prst="roundRect">
            <a:avLst>
              <a:gd name="adj" fmla="val 50769"/>
            </a:avLst>
          </a:prstGeom>
          <a:solidFill>
            <a:srgbClr val="E76F51"/>
          </a:solidFill>
          <a:ln/>
        </p:spPr>
      </p:sp>
      <p:sp>
        <p:nvSpPr>
          <p:cNvPr id="22" name="Text 20"/>
          <p:cNvSpPr/>
          <p:nvPr/>
        </p:nvSpPr>
        <p:spPr>
          <a:xfrm>
            <a:off x="7498080" y="2221992"/>
            <a:ext cx="594360" cy="59436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04</a:t>
            </a:r>
            <a:endParaRPr lang="en-US" sz="1800" dirty="0"/>
          </a:p>
        </p:txBody>
      </p:sp>
      <p:sp>
        <p:nvSpPr>
          <p:cNvPr id="23" name="Text 21"/>
          <p:cNvSpPr/>
          <p:nvPr/>
        </p:nvSpPr>
        <p:spPr>
          <a:xfrm>
            <a:off x="7479792" y="2971800"/>
            <a:ext cx="1719072" cy="640080"/>
          </a:xfrm>
          <a:prstGeom prst="rect">
            <a:avLst/>
          </a:prstGeom>
          <a:noFill/>
          <a:ln/>
        </p:spPr>
        <p:txBody>
          <a:bodyPr wrap="square" rtlCol="0" anchor="ctr"/>
          <a:lstStyle/>
          <a:p>
            <a:pPr indent="0" marL="0">
              <a:lnSpc>
                <a:spcPts val="1700"/>
              </a:lnSpc>
              <a:buNone/>
            </a:pPr>
            <a:r>
              <a:rPr lang="en-US" sz="1450" b="1" dirty="0">
                <a:solidFill>
                  <a:srgbClr val="1C2B4A"/>
                </a:solidFill>
                <a:latin typeface="Calibri" pitchFamily="34" charset="0"/>
                <a:ea typeface="Calibri" pitchFamily="34" charset="-122"/>
                <a:cs typeface="Calibri" pitchFamily="34" charset="-120"/>
              </a:rPr>
              <a:t>Built a Dashboard</a:t>
            </a:r>
            <a:endParaRPr lang="en-US" sz="1450" dirty="0"/>
          </a:p>
        </p:txBody>
      </p:sp>
      <p:sp>
        <p:nvSpPr>
          <p:cNvPr id="24" name="Text 22"/>
          <p:cNvSpPr/>
          <p:nvPr/>
        </p:nvSpPr>
        <p:spPr>
          <a:xfrm>
            <a:off x="7479792" y="3657600"/>
            <a:ext cx="1719072" cy="2148840"/>
          </a:xfrm>
          <a:prstGeom prst="rect">
            <a:avLst/>
          </a:prstGeom>
          <a:noFill/>
          <a:ln/>
        </p:spPr>
        <p:txBody>
          <a:bodyPr wrap="square" rtlCol="0" anchor="ctr"/>
          <a:lstStyle/>
          <a:p>
            <a:pPr indent="0" marL="0">
              <a:lnSpc>
                <a:spcPts val="1500"/>
              </a:lnSpc>
              <a:buNone/>
            </a:pPr>
            <a:r>
              <a:rPr lang="en-US" sz="1100" dirty="0">
                <a:solidFill>
                  <a:srgbClr val="6B7280"/>
                </a:solidFill>
                <a:latin typeface="Calibri" pitchFamily="34" charset="0"/>
                <a:ea typeface="Calibri" pitchFamily="34" charset="-122"/>
                <a:cs typeface="Calibri" pitchFamily="34" charset="-120"/>
              </a:rPr>
              <a:t>Designed an interactive Power BI dashboard around core KPIs.</a:t>
            </a:r>
            <a:endParaRPr lang="en-US" sz="1100" dirty="0"/>
          </a:p>
        </p:txBody>
      </p:sp>
      <p:sp>
        <p:nvSpPr>
          <p:cNvPr id="25" name="Shape 23"/>
          <p:cNvSpPr/>
          <p:nvPr/>
        </p:nvSpPr>
        <p:spPr>
          <a:xfrm>
            <a:off x="9546336" y="1965960"/>
            <a:ext cx="2084832" cy="4023360"/>
          </a:xfrm>
          <a:prstGeom prst="roundRect">
            <a:avLst>
              <a:gd name="adj" fmla="val 4386"/>
            </a:avLst>
          </a:prstGeom>
          <a:solidFill>
            <a:srgbClr val="F4F6F9"/>
          </a:solidFill>
          <a:ln/>
        </p:spPr>
      </p:sp>
      <p:sp>
        <p:nvSpPr>
          <p:cNvPr id="26" name="Shape 24"/>
          <p:cNvSpPr/>
          <p:nvPr/>
        </p:nvSpPr>
        <p:spPr>
          <a:xfrm>
            <a:off x="9747504" y="2221992"/>
            <a:ext cx="594360" cy="594360"/>
          </a:xfrm>
          <a:prstGeom prst="roundRect">
            <a:avLst>
              <a:gd name="adj" fmla="val 50769"/>
            </a:avLst>
          </a:prstGeom>
          <a:solidFill>
            <a:srgbClr val="8E5572"/>
          </a:solidFill>
          <a:ln/>
        </p:spPr>
      </p:sp>
      <p:sp>
        <p:nvSpPr>
          <p:cNvPr id="27" name="Text 25"/>
          <p:cNvSpPr/>
          <p:nvPr/>
        </p:nvSpPr>
        <p:spPr>
          <a:xfrm>
            <a:off x="9747504" y="2221992"/>
            <a:ext cx="594360" cy="59436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05</a:t>
            </a:r>
            <a:endParaRPr lang="en-US" sz="1800" dirty="0"/>
          </a:p>
        </p:txBody>
      </p:sp>
      <p:sp>
        <p:nvSpPr>
          <p:cNvPr id="28" name="Text 26"/>
          <p:cNvSpPr/>
          <p:nvPr/>
        </p:nvSpPr>
        <p:spPr>
          <a:xfrm>
            <a:off x="9729216" y="2971800"/>
            <a:ext cx="1719072" cy="640080"/>
          </a:xfrm>
          <a:prstGeom prst="rect">
            <a:avLst/>
          </a:prstGeom>
          <a:noFill/>
          <a:ln/>
        </p:spPr>
        <p:txBody>
          <a:bodyPr wrap="square" rtlCol="0" anchor="ctr"/>
          <a:lstStyle/>
          <a:p>
            <a:pPr indent="0" marL="0">
              <a:lnSpc>
                <a:spcPts val="1700"/>
              </a:lnSpc>
              <a:buNone/>
            </a:pPr>
            <a:r>
              <a:rPr lang="en-US" sz="1450" b="1" dirty="0">
                <a:solidFill>
                  <a:srgbClr val="1C2B4A"/>
                </a:solidFill>
                <a:latin typeface="Calibri" pitchFamily="34" charset="0"/>
                <a:ea typeface="Calibri" pitchFamily="34" charset="-122"/>
                <a:cs typeface="Calibri" pitchFamily="34" charset="-120"/>
              </a:rPr>
              <a:t>Tested a Hypothesis</a:t>
            </a:r>
            <a:endParaRPr lang="en-US" sz="1450" dirty="0"/>
          </a:p>
        </p:txBody>
      </p:sp>
      <p:sp>
        <p:nvSpPr>
          <p:cNvPr id="29" name="Text 27"/>
          <p:cNvSpPr/>
          <p:nvPr/>
        </p:nvSpPr>
        <p:spPr>
          <a:xfrm>
            <a:off x="9729216" y="3657600"/>
            <a:ext cx="1719072" cy="2148840"/>
          </a:xfrm>
          <a:prstGeom prst="rect">
            <a:avLst/>
          </a:prstGeom>
          <a:noFill/>
          <a:ln/>
        </p:spPr>
        <p:txBody>
          <a:bodyPr wrap="square" rtlCol="0" anchor="ctr"/>
          <a:lstStyle/>
          <a:p>
            <a:pPr indent="0" marL="0">
              <a:lnSpc>
                <a:spcPts val="1500"/>
              </a:lnSpc>
              <a:buNone/>
            </a:pPr>
            <a:r>
              <a:rPr lang="en-US" sz="1100" dirty="0">
                <a:solidFill>
                  <a:srgbClr val="6B7280"/>
                </a:solidFill>
                <a:latin typeface="Calibri" pitchFamily="34" charset="0"/>
                <a:ea typeface="Calibri" pitchFamily="34" charset="-122"/>
                <a:cs typeface="Calibri" pitchFamily="34" charset="-120"/>
              </a:rPr>
              <a:t>Applied a statistical test to validate a real business claim.</a:t>
            </a:r>
            <a:endParaRPr lang="en-US" sz="11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ApexPlanet Data Analytics Internship  |  Task 4</a:t>
            </a:r>
            <a:endParaRPr lang="en-US" sz="900" dirty="0"/>
          </a:p>
        </p:txBody>
      </p:sp>
      <p:sp>
        <p:nvSpPr>
          <p:cNvPr id="31" name="Text 29"/>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64592"/>
            <a:ext cx="11091672" cy="274320"/>
          </a:xfrm>
          <a:prstGeom prst="rect">
            <a:avLst/>
          </a:prstGeom>
          <a:noFill/>
          <a:ln/>
        </p:spPr>
        <p:txBody>
          <a:bodyPr wrap="square" rtlCol="0" anchor="ctr"/>
          <a:lstStyle/>
          <a:p>
            <a:pPr indent="0" marL="0">
              <a:buNone/>
            </a:pPr>
            <a:r>
              <a:rPr lang="en-US" sz="1200" b="1" spc="200" kern="0" dirty="0">
                <a:solidFill>
                  <a:srgbClr val="2A9D8F"/>
                </a:solidFill>
                <a:latin typeface="Calibri" pitchFamily="34" charset="0"/>
                <a:ea typeface="Calibri" pitchFamily="34" charset="-122"/>
                <a:cs typeface="Calibri" pitchFamily="34" charset="-120"/>
              </a:rPr>
              <a:t>THE DATASET</a:t>
            </a:r>
            <a:endParaRPr lang="en-US" sz="1200" dirty="0"/>
          </a:p>
        </p:txBody>
      </p:sp>
      <p:sp>
        <p:nvSpPr>
          <p:cNvPr id="3" name="Text 1"/>
          <p:cNvSpPr/>
          <p:nvPr/>
        </p:nvSpPr>
        <p:spPr>
          <a:xfrm>
            <a:off x="548640" y="411480"/>
            <a:ext cx="11091672" cy="731520"/>
          </a:xfrm>
          <a:prstGeom prst="rect">
            <a:avLst/>
          </a:prstGeom>
          <a:noFill/>
          <a:ln/>
        </p:spPr>
        <p:txBody>
          <a:bodyPr wrap="square" rtlCol="0" anchor="ctr"/>
          <a:lstStyle/>
          <a:p>
            <a:pPr indent="0" marL="0">
              <a:buNone/>
            </a:pPr>
            <a:r>
              <a:rPr lang="en-US" sz="3000" b="1" dirty="0">
                <a:solidFill>
                  <a:srgbClr val="1C2B4A"/>
                </a:solidFill>
                <a:latin typeface="Georgia" pitchFamily="34" charset="0"/>
                <a:ea typeface="Georgia" pitchFamily="34" charset="-122"/>
                <a:cs typeface="Georgia" pitchFamily="34" charset="-120"/>
              </a:rPr>
              <a:t>What we were working with</a:t>
            </a:r>
            <a:endParaRPr lang="en-US" sz="3000" dirty="0"/>
          </a:p>
        </p:txBody>
      </p:sp>
      <p:sp>
        <p:nvSpPr>
          <p:cNvPr id="4" name="Shape 2"/>
          <p:cNvSpPr/>
          <p:nvPr/>
        </p:nvSpPr>
        <p:spPr>
          <a:xfrm>
            <a:off x="548640" y="1417320"/>
            <a:ext cx="2468880" cy="1234440"/>
          </a:xfrm>
          <a:prstGeom prst="roundRect">
            <a:avLst>
              <a:gd name="adj" fmla="val 7407"/>
            </a:avLst>
          </a:prstGeom>
          <a:solidFill>
            <a:srgbClr val="F4F6F9"/>
          </a:solidFill>
          <a:ln/>
        </p:spPr>
      </p:sp>
      <p:sp>
        <p:nvSpPr>
          <p:cNvPr id="5" name="Text 3"/>
          <p:cNvSpPr/>
          <p:nvPr/>
        </p:nvSpPr>
        <p:spPr>
          <a:xfrm>
            <a:off x="731520" y="1554480"/>
            <a:ext cx="2103120" cy="548640"/>
          </a:xfrm>
          <a:prstGeom prst="rect">
            <a:avLst/>
          </a:prstGeom>
          <a:noFill/>
          <a:ln/>
        </p:spPr>
        <p:txBody>
          <a:bodyPr wrap="square" rtlCol="0" anchor="ctr"/>
          <a:lstStyle/>
          <a:p>
            <a:pPr indent="0" marL="0">
              <a:buNone/>
            </a:pPr>
            <a:r>
              <a:rPr lang="en-US" sz="2600" b="1" dirty="0">
                <a:solidFill>
                  <a:srgbClr val="2A9D8F"/>
                </a:solidFill>
                <a:latin typeface="Georgia" pitchFamily="34" charset="0"/>
                <a:ea typeface="Georgia" pitchFamily="34" charset="-122"/>
                <a:cs typeface="Georgia" pitchFamily="34" charset="-120"/>
              </a:rPr>
              <a:t>1,000</a:t>
            </a:r>
            <a:endParaRPr lang="en-US" sz="2600" dirty="0"/>
          </a:p>
        </p:txBody>
      </p:sp>
      <p:sp>
        <p:nvSpPr>
          <p:cNvPr id="6" name="Text 4"/>
          <p:cNvSpPr/>
          <p:nvPr/>
        </p:nvSpPr>
        <p:spPr>
          <a:xfrm>
            <a:off x="731520" y="2148840"/>
            <a:ext cx="2103120" cy="411480"/>
          </a:xfrm>
          <a:prstGeom prst="rect">
            <a:avLst/>
          </a:prstGeom>
          <a:noFill/>
          <a:ln/>
        </p:spPr>
        <p:txBody>
          <a:bodyPr wrap="square" rtlCol="0" anchor="ctr"/>
          <a:lstStyle/>
          <a:p>
            <a:pPr indent="0" marL="0">
              <a:buNone/>
            </a:pPr>
            <a:r>
              <a:rPr lang="en-US" sz="1150" dirty="0">
                <a:solidFill>
                  <a:srgbClr val="6B7280"/>
                </a:solidFill>
                <a:latin typeface="Calibri" pitchFamily="34" charset="0"/>
                <a:ea typeface="Calibri" pitchFamily="34" charset="-122"/>
                <a:cs typeface="Calibri" pitchFamily="34" charset="-120"/>
              </a:rPr>
              <a:t>Sales transactions</a:t>
            </a:r>
            <a:endParaRPr lang="en-US" sz="1150" dirty="0"/>
          </a:p>
        </p:txBody>
      </p:sp>
      <p:sp>
        <p:nvSpPr>
          <p:cNvPr id="7" name="Shape 5"/>
          <p:cNvSpPr/>
          <p:nvPr/>
        </p:nvSpPr>
        <p:spPr>
          <a:xfrm>
            <a:off x="3200400" y="1417320"/>
            <a:ext cx="2468880" cy="1234440"/>
          </a:xfrm>
          <a:prstGeom prst="roundRect">
            <a:avLst>
              <a:gd name="adj" fmla="val 7407"/>
            </a:avLst>
          </a:prstGeom>
          <a:solidFill>
            <a:srgbClr val="F4F6F9"/>
          </a:solidFill>
          <a:ln/>
        </p:spPr>
      </p:sp>
      <p:sp>
        <p:nvSpPr>
          <p:cNvPr id="8" name="Text 6"/>
          <p:cNvSpPr/>
          <p:nvPr/>
        </p:nvSpPr>
        <p:spPr>
          <a:xfrm>
            <a:off x="3383280" y="1554480"/>
            <a:ext cx="2103120" cy="548640"/>
          </a:xfrm>
          <a:prstGeom prst="rect">
            <a:avLst/>
          </a:prstGeom>
          <a:noFill/>
          <a:ln/>
        </p:spPr>
        <p:txBody>
          <a:bodyPr wrap="square" rtlCol="0" anchor="ctr"/>
          <a:lstStyle/>
          <a:p>
            <a:pPr indent="0" marL="0">
              <a:buNone/>
            </a:pPr>
            <a:r>
              <a:rPr lang="en-US" sz="2600" b="1" dirty="0">
                <a:solidFill>
                  <a:srgbClr val="2A9D8F"/>
                </a:solidFill>
                <a:latin typeface="Georgia" pitchFamily="34" charset="0"/>
                <a:ea typeface="Georgia" pitchFamily="34" charset="-122"/>
                <a:cs typeface="Georgia" pitchFamily="34" charset="-120"/>
              </a:rPr>
              <a:t>15</a:t>
            </a:r>
            <a:endParaRPr lang="en-US" sz="2600" dirty="0"/>
          </a:p>
        </p:txBody>
      </p:sp>
      <p:sp>
        <p:nvSpPr>
          <p:cNvPr id="9" name="Text 7"/>
          <p:cNvSpPr/>
          <p:nvPr/>
        </p:nvSpPr>
        <p:spPr>
          <a:xfrm>
            <a:off x="3383280" y="2148840"/>
            <a:ext cx="2103120" cy="411480"/>
          </a:xfrm>
          <a:prstGeom prst="rect">
            <a:avLst/>
          </a:prstGeom>
          <a:noFill/>
          <a:ln/>
        </p:spPr>
        <p:txBody>
          <a:bodyPr wrap="square" rtlCol="0" anchor="ctr"/>
          <a:lstStyle/>
          <a:p>
            <a:pPr indent="0" marL="0">
              <a:buNone/>
            </a:pPr>
            <a:r>
              <a:rPr lang="en-US" sz="1150" dirty="0">
                <a:solidFill>
                  <a:srgbClr val="6B7280"/>
                </a:solidFill>
                <a:latin typeface="Calibri" pitchFamily="34" charset="0"/>
                <a:ea typeface="Calibri" pitchFamily="34" charset="-122"/>
                <a:cs typeface="Calibri" pitchFamily="34" charset="-120"/>
              </a:rPr>
              <a:t>Data fields per record</a:t>
            </a:r>
            <a:endParaRPr lang="en-US" sz="1150" dirty="0"/>
          </a:p>
        </p:txBody>
      </p:sp>
      <p:sp>
        <p:nvSpPr>
          <p:cNvPr id="10" name="Shape 8"/>
          <p:cNvSpPr/>
          <p:nvPr/>
        </p:nvSpPr>
        <p:spPr>
          <a:xfrm>
            <a:off x="548640" y="2834640"/>
            <a:ext cx="2468880" cy="1234440"/>
          </a:xfrm>
          <a:prstGeom prst="roundRect">
            <a:avLst>
              <a:gd name="adj" fmla="val 7407"/>
            </a:avLst>
          </a:prstGeom>
          <a:solidFill>
            <a:srgbClr val="F4F6F9"/>
          </a:solidFill>
          <a:ln/>
        </p:spPr>
      </p:sp>
      <p:sp>
        <p:nvSpPr>
          <p:cNvPr id="11" name="Text 9"/>
          <p:cNvSpPr/>
          <p:nvPr/>
        </p:nvSpPr>
        <p:spPr>
          <a:xfrm>
            <a:off x="731520" y="2971800"/>
            <a:ext cx="2103120" cy="548640"/>
          </a:xfrm>
          <a:prstGeom prst="rect">
            <a:avLst/>
          </a:prstGeom>
          <a:noFill/>
          <a:ln/>
        </p:spPr>
        <p:txBody>
          <a:bodyPr wrap="square" rtlCol="0" anchor="ctr"/>
          <a:lstStyle/>
          <a:p>
            <a:pPr indent="0" marL="0">
              <a:buNone/>
            </a:pPr>
            <a:r>
              <a:rPr lang="en-US" sz="2600" b="1" dirty="0">
                <a:solidFill>
                  <a:srgbClr val="2A9D8F"/>
                </a:solidFill>
                <a:latin typeface="Georgia" pitchFamily="34" charset="0"/>
                <a:ea typeface="Georgia" pitchFamily="34" charset="-122"/>
                <a:cs typeface="Georgia" pitchFamily="34" charset="-120"/>
              </a:rPr>
              <a:t>947</a:t>
            </a:r>
            <a:endParaRPr lang="en-US" sz="2600" dirty="0"/>
          </a:p>
        </p:txBody>
      </p:sp>
      <p:sp>
        <p:nvSpPr>
          <p:cNvPr id="12" name="Text 10"/>
          <p:cNvSpPr/>
          <p:nvPr/>
        </p:nvSpPr>
        <p:spPr>
          <a:xfrm>
            <a:off x="731520" y="3566160"/>
            <a:ext cx="2103120" cy="411480"/>
          </a:xfrm>
          <a:prstGeom prst="rect">
            <a:avLst/>
          </a:prstGeom>
          <a:noFill/>
          <a:ln/>
        </p:spPr>
        <p:txBody>
          <a:bodyPr wrap="square" rtlCol="0" anchor="ctr"/>
          <a:lstStyle/>
          <a:p>
            <a:pPr indent="0" marL="0">
              <a:buNone/>
            </a:pPr>
            <a:r>
              <a:rPr lang="en-US" sz="1150" dirty="0">
                <a:solidFill>
                  <a:srgbClr val="6B7280"/>
                </a:solidFill>
                <a:latin typeface="Calibri" pitchFamily="34" charset="0"/>
                <a:ea typeface="Calibri" pitchFamily="34" charset="-122"/>
                <a:cs typeface="Calibri" pitchFamily="34" charset="-120"/>
              </a:rPr>
              <a:t>Unique customers</a:t>
            </a:r>
            <a:endParaRPr lang="en-US" sz="1150" dirty="0"/>
          </a:p>
        </p:txBody>
      </p:sp>
      <p:sp>
        <p:nvSpPr>
          <p:cNvPr id="13" name="Shape 11"/>
          <p:cNvSpPr/>
          <p:nvPr/>
        </p:nvSpPr>
        <p:spPr>
          <a:xfrm>
            <a:off x="3200400" y="2834640"/>
            <a:ext cx="2468880" cy="1234440"/>
          </a:xfrm>
          <a:prstGeom prst="roundRect">
            <a:avLst>
              <a:gd name="adj" fmla="val 7407"/>
            </a:avLst>
          </a:prstGeom>
          <a:solidFill>
            <a:srgbClr val="F4F6F9"/>
          </a:solidFill>
          <a:ln/>
        </p:spPr>
      </p:sp>
      <p:sp>
        <p:nvSpPr>
          <p:cNvPr id="14" name="Text 12"/>
          <p:cNvSpPr/>
          <p:nvPr/>
        </p:nvSpPr>
        <p:spPr>
          <a:xfrm>
            <a:off x="3383280" y="2971800"/>
            <a:ext cx="2103120" cy="548640"/>
          </a:xfrm>
          <a:prstGeom prst="rect">
            <a:avLst/>
          </a:prstGeom>
          <a:noFill/>
          <a:ln/>
        </p:spPr>
        <p:txBody>
          <a:bodyPr wrap="square" rtlCol="0" anchor="ctr"/>
          <a:lstStyle/>
          <a:p>
            <a:pPr indent="0" marL="0">
              <a:buNone/>
            </a:pPr>
            <a:r>
              <a:rPr lang="en-US" sz="2600" b="1" dirty="0">
                <a:solidFill>
                  <a:srgbClr val="2A9D8F"/>
                </a:solidFill>
                <a:latin typeface="Georgia" pitchFamily="34" charset="0"/>
                <a:ea typeface="Georgia" pitchFamily="34" charset="-122"/>
                <a:cs typeface="Georgia" pitchFamily="34" charset="-120"/>
              </a:rPr>
              <a:t>2025-26</a:t>
            </a:r>
            <a:endParaRPr lang="en-US" sz="2600" dirty="0"/>
          </a:p>
        </p:txBody>
      </p:sp>
      <p:sp>
        <p:nvSpPr>
          <p:cNvPr id="15" name="Text 13"/>
          <p:cNvSpPr/>
          <p:nvPr/>
        </p:nvSpPr>
        <p:spPr>
          <a:xfrm>
            <a:off x="3383280" y="3566160"/>
            <a:ext cx="2103120" cy="411480"/>
          </a:xfrm>
          <a:prstGeom prst="rect">
            <a:avLst/>
          </a:prstGeom>
          <a:noFill/>
          <a:ln/>
        </p:spPr>
        <p:txBody>
          <a:bodyPr wrap="square" rtlCol="0" anchor="ctr"/>
          <a:lstStyle/>
          <a:p>
            <a:pPr indent="0" marL="0">
              <a:buNone/>
            </a:pPr>
            <a:r>
              <a:rPr lang="en-US" sz="1150" dirty="0">
                <a:solidFill>
                  <a:srgbClr val="6B7280"/>
                </a:solidFill>
                <a:latin typeface="Calibri" pitchFamily="34" charset="0"/>
                <a:ea typeface="Calibri" pitchFamily="34" charset="-122"/>
                <a:cs typeface="Calibri" pitchFamily="34" charset="-120"/>
              </a:rPr>
              <a:t>Period covered</a:t>
            </a:r>
            <a:endParaRPr lang="en-US" sz="1150" dirty="0"/>
          </a:p>
        </p:txBody>
      </p:sp>
      <p:sp>
        <p:nvSpPr>
          <p:cNvPr id="16" name="Shape 14"/>
          <p:cNvSpPr/>
          <p:nvPr/>
        </p:nvSpPr>
        <p:spPr>
          <a:xfrm>
            <a:off x="6309360" y="1417320"/>
            <a:ext cx="5349240" cy="4206240"/>
          </a:xfrm>
          <a:prstGeom prst="roundRect">
            <a:avLst>
              <a:gd name="adj" fmla="val 2174"/>
            </a:avLst>
          </a:prstGeom>
          <a:solidFill>
            <a:srgbClr val="1C2B4A"/>
          </a:solidFill>
          <a:ln/>
        </p:spPr>
      </p:sp>
      <p:sp>
        <p:nvSpPr>
          <p:cNvPr id="17" name="Text 15"/>
          <p:cNvSpPr/>
          <p:nvPr/>
        </p:nvSpPr>
        <p:spPr>
          <a:xfrm>
            <a:off x="6629400" y="1645920"/>
            <a:ext cx="4754880" cy="274320"/>
          </a:xfrm>
          <a:prstGeom prst="rect">
            <a:avLst/>
          </a:prstGeom>
          <a:noFill/>
          <a:ln/>
        </p:spPr>
        <p:txBody>
          <a:bodyPr wrap="square" rtlCol="0" anchor="ctr"/>
          <a:lstStyle/>
          <a:p>
            <a:pPr indent="0" marL="0">
              <a:buNone/>
            </a:pPr>
            <a:r>
              <a:rPr lang="en-US" sz="1100" b="1" spc="150" kern="0" dirty="0">
                <a:solidFill>
                  <a:srgbClr val="E9C46A"/>
                </a:solidFill>
                <a:latin typeface="Calibri" pitchFamily="34" charset="0"/>
                <a:ea typeface="Calibri" pitchFamily="34" charset="-122"/>
                <a:cs typeface="Calibri" pitchFamily="34" charset="-120"/>
              </a:rPr>
              <a:t>KEY FIELDS IN THE DATASET</a:t>
            </a:r>
            <a:endParaRPr lang="en-US" sz="1100" dirty="0"/>
          </a:p>
        </p:txBody>
      </p:sp>
      <p:sp>
        <p:nvSpPr>
          <p:cNvPr id="18" name="Text 16"/>
          <p:cNvSpPr/>
          <p:nvPr/>
        </p:nvSpPr>
        <p:spPr>
          <a:xfrm>
            <a:off x="6629400" y="2057400"/>
            <a:ext cx="4754880" cy="292608"/>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Order_ID / Order_Date</a:t>
            </a:r>
            <a:endParaRPr lang="en-US" sz="1250" dirty="0"/>
          </a:p>
        </p:txBody>
      </p:sp>
      <p:sp>
        <p:nvSpPr>
          <p:cNvPr id="19" name="Text 17"/>
          <p:cNvSpPr/>
          <p:nvPr/>
        </p:nvSpPr>
        <p:spPr>
          <a:xfrm>
            <a:off x="6629400" y="2331720"/>
            <a:ext cx="4754880" cy="320040"/>
          </a:xfrm>
          <a:prstGeom prst="rect">
            <a:avLst/>
          </a:prstGeom>
          <a:noFill/>
          <a:ln/>
        </p:spPr>
        <p:txBody>
          <a:bodyPr wrap="square" rtlCol="0" anchor="ctr"/>
          <a:lstStyle/>
          <a:p>
            <a:pPr indent="0" marL="0">
              <a:buNone/>
            </a:pPr>
            <a:r>
              <a:rPr lang="en-US" sz="1100" dirty="0">
                <a:solidFill>
                  <a:srgbClr val="AEB9CC"/>
                </a:solidFill>
                <a:latin typeface="Calibri" pitchFamily="34" charset="0"/>
                <a:ea typeface="Calibri" pitchFamily="34" charset="-122"/>
                <a:cs typeface="Calibri" pitchFamily="34" charset="-120"/>
              </a:rPr>
              <a:t>Unique order reference and transaction date</a:t>
            </a:r>
            <a:endParaRPr lang="en-US" sz="1100" dirty="0"/>
          </a:p>
        </p:txBody>
      </p:sp>
      <p:sp>
        <p:nvSpPr>
          <p:cNvPr id="20" name="Text 18"/>
          <p:cNvSpPr/>
          <p:nvPr/>
        </p:nvSpPr>
        <p:spPr>
          <a:xfrm>
            <a:off x="6629400" y="2679192"/>
            <a:ext cx="4754880" cy="292608"/>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Customer_ID / Name / Age / Gender</a:t>
            </a:r>
            <a:endParaRPr lang="en-US" sz="1250" dirty="0"/>
          </a:p>
        </p:txBody>
      </p:sp>
      <p:sp>
        <p:nvSpPr>
          <p:cNvPr id="21" name="Text 19"/>
          <p:cNvSpPr/>
          <p:nvPr/>
        </p:nvSpPr>
        <p:spPr>
          <a:xfrm>
            <a:off x="6629400" y="2953512"/>
            <a:ext cx="4754880" cy="320040"/>
          </a:xfrm>
          <a:prstGeom prst="rect">
            <a:avLst/>
          </a:prstGeom>
          <a:noFill/>
          <a:ln/>
        </p:spPr>
        <p:txBody>
          <a:bodyPr wrap="square" rtlCol="0" anchor="ctr"/>
          <a:lstStyle/>
          <a:p>
            <a:pPr indent="0" marL="0">
              <a:buNone/>
            </a:pPr>
            <a:r>
              <a:rPr lang="en-US" sz="1100" dirty="0">
                <a:solidFill>
                  <a:srgbClr val="AEB9CC"/>
                </a:solidFill>
                <a:latin typeface="Calibri" pitchFamily="34" charset="0"/>
                <a:ea typeface="Calibri" pitchFamily="34" charset="-122"/>
                <a:cs typeface="Calibri" pitchFamily="34" charset="-120"/>
              </a:rPr>
              <a:t>Who is buying, and their profile</a:t>
            </a:r>
            <a:endParaRPr lang="en-US" sz="1100" dirty="0"/>
          </a:p>
        </p:txBody>
      </p:sp>
      <p:sp>
        <p:nvSpPr>
          <p:cNvPr id="22" name="Text 20"/>
          <p:cNvSpPr/>
          <p:nvPr/>
        </p:nvSpPr>
        <p:spPr>
          <a:xfrm>
            <a:off x="6629400" y="3300984"/>
            <a:ext cx="4754880" cy="292608"/>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City</a:t>
            </a:r>
            <a:endParaRPr lang="en-US" sz="1250" dirty="0"/>
          </a:p>
        </p:txBody>
      </p:sp>
      <p:sp>
        <p:nvSpPr>
          <p:cNvPr id="23" name="Text 21"/>
          <p:cNvSpPr/>
          <p:nvPr/>
        </p:nvSpPr>
        <p:spPr>
          <a:xfrm>
            <a:off x="6629400" y="3575304"/>
            <a:ext cx="4754880" cy="320040"/>
          </a:xfrm>
          <a:prstGeom prst="rect">
            <a:avLst/>
          </a:prstGeom>
          <a:noFill/>
          <a:ln/>
        </p:spPr>
        <p:txBody>
          <a:bodyPr wrap="square" rtlCol="0" anchor="ctr"/>
          <a:lstStyle/>
          <a:p>
            <a:pPr indent="0" marL="0">
              <a:buNone/>
            </a:pPr>
            <a:r>
              <a:rPr lang="en-US" sz="1100" dirty="0">
                <a:solidFill>
                  <a:srgbClr val="AEB9CC"/>
                </a:solidFill>
                <a:latin typeface="Calibri" pitchFamily="34" charset="0"/>
                <a:ea typeface="Calibri" pitchFamily="34" charset="-122"/>
                <a:cs typeface="Calibri" pitchFamily="34" charset="-120"/>
              </a:rPr>
              <a:t>Where the order was placed</a:t>
            </a:r>
            <a:endParaRPr lang="en-US" sz="1100" dirty="0"/>
          </a:p>
        </p:txBody>
      </p:sp>
      <p:sp>
        <p:nvSpPr>
          <p:cNvPr id="24" name="Text 22"/>
          <p:cNvSpPr/>
          <p:nvPr/>
        </p:nvSpPr>
        <p:spPr>
          <a:xfrm>
            <a:off x="6629400" y="3922776"/>
            <a:ext cx="4754880" cy="292608"/>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Product / Category</a:t>
            </a:r>
            <a:endParaRPr lang="en-US" sz="1250" dirty="0"/>
          </a:p>
        </p:txBody>
      </p:sp>
      <p:sp>
        <p:nvSpPr>
          <p:cNvPr id="25" name="Text 23"/>
          <p:cNvSpPr/>
          <p:nvPr/>
        </p:nvSpPr>
        <p:spPr>
          <a:xfrm>
            <a:off x="6629400" y="4197096"/>
            <a:ext cx="4754880" cy="320040"/>
          </a:xfrm>
          <a:prstGeom prst="rect">
            <a:avLst/>
          </a:prstGeom>
          <a:noFill/>
          <a:ln/>
        </p:spPr>
        <p:txBody>
          <a:bodyPr wrap="square" rtlCol="0" anchor="ctr"/>
          <a:lstStyle/>
          <a:p>
            <a:pPr indent="0" marL="0">
              <a:buNone/>
            </a:pPr>
            <a:r>
              <a:rPr lang="en-US" sz="1100" dirty="0">
                <a:solidFill>
                  <a:srgbClr val="AEB9CC"/>
                </a:solidFill>
                <a:latin typeface="Calibri" pitchFamily="34" charset="0"/>
                <a:ea typeface="Calibri" pitchFamily="34" charset="-122"/>
                <a:cs typeface="Calibri" pitchFamily="34" charset="-120"/>
              </a:rPr>
              <a:t>What was purchased and its category</a:t>
            </a:r>
            <a:endParaRPr lang="en-US" sz="1100" dirty="0"/>
          </a:p>
        </p:txBody>
      </p:sp>
      <p:sp>
        <p:nvSpPr>
          <p:cNvPr id="26" name="Text 24"/>
          <p:cNvSpPr/>
          <p:nvPr/>
        </p:nvSpPr>
        <p:spPr>
          <a:xfrm>
            <a:off x="6629400" y="4544568"/>
            <a:ext cx="4754880" cy="292608"/>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Quantity / Unit_Price / Total_Sales</a:t>
            </a:r>
            <a:endParaRPr lang="en-US" sz="1250" dirty="0"/>
          </a:p>
        </p:txBody>
      </p:sp>
      <p:sp>
        <p:nvSpPr>
          <p:cNvPr id="27" name="Text 25"/>
          <p:cNvSpPr/>
          <p:nvPr/>
        </p:nvSpPr>
        <p:spPr>
          <a:xfrm>
            <a:off x="6629400" y="4818888"/>
            <a:ext cx="4754880" cy="320040"/>
          </a:xfrm>
          <a:prstGeom prst="rect">
            <a:avLst/>
          </a:prstGeom>
          <a:noFill/>
          <a:ln/>
        </p:spPr>
        <p:txBody>
          <a:bodyPr wrap="square" rtlCol="0" anchor="ctr"/>
          <a:lstStyle/>
          <a:p>
            <a:pPr indent="0" marL="0">
              <a:buNone/>
            </a:pPr>
            <a:r>
              <a:rPr lang="en-US" sz="1100" dirty="0">
                <a:solidFill>
                  <a:srgbClr val="AEB9CC"/>
                </a:solidFill>
                <a:latin typeface="Calibri" pitchFamily="34" charset="0"/>
                <a:ea typeface="Calibri" pitchFamily="34" charset="-122"/>
                <a:cs typeface="Calibri" pitchFamily="34" charset="-120"/>
              </a:rPr>
              <a:t>Order size and revenue</a:t>
            </a:r>
            <a:endParaRPr lang="en-US" sz="1100" dirty="0"/>
          </a:p>
        </p:txBody>
      </p:sp>
      <p:sp>
        <p:nvSpPr>
          <p:cNvPr id="28" name="Text 26"/>
          <p:cNvSpPr/>
          <p:nvPr/>
        </p:nvSpPr>
        <p:spPr>
          <a:xfrm>
            <a:off x="6629400" y="5166360"/>
            <a:ext cx="4754880" cy="292608"/>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Sales_Category</a:t>
            </a:r>
            <a:endParaRPr lang="en-US" sz="1250" dirty="0"/>
          </a:p>
        </p:txBody>
      </p:sp>
      <p:sp>
        <p:nvSpPr>
          <p:cNvPr id="29" name="Text 27"/>
          <p:cNvSpPr/>
          <p:nvPr/>
        </p:nvSpPr>
        <p:spPr>
          <a:xfrm>
            <a:off x="6629400" y="5440680"/>
            <a:ext cx="4754880" cy="320040"/>
          </a:xfrm>
          <a:prstGeom prst="rect">
            <a:avLst/>
          </a:prstGeom>
          <a:noFill/>
          <a:ln/>
        </p:spPr>
        <p:txBody>
          <a:bodyPr wrap="square" rtlCol="0" anchor="ctr"/>
          <a:lstStyle/>
          <a:p>
            <a:pPr indent="0" marL="0">
              <a:buNone/>
            </a:pPr>
            <a:r>
              <a:rPr lang="en-US" sz="1100" dirty="0">
                <a:solidFill>
                  <a:srgbClr val="AEB9CC"/>
                </a:solidFill>
                <a:latin typeface="Calibri" pitchFamily="34" charset="0"/>
                <a:ea typeface="Calibri" pitchFamily="34" charset="-122"/>
                <a:cs typeface="Calibri" pitchFamily="34" charset="-120"/>
              </a:rPr>
              <a:t>Business tag: High / Medium / Low value order</a:t>
            </a:r>
            <a:endParaRPr lang="en-US" sz="11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ApexPlanet Data Analytics Internship  |  Task 4</a:t>
            </a:r>
            <a:endParaRPr lang="en-US" sz="900" dirty="0"/>
          </a:p>
        </p:txBody>
      </p:sp>
      <p:sp>
        <p:nvSpPr>
          <p:cNvPr id="31" name="Text 29"/>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64592"/>
            <a:ext cx="11091672" cy="274320"/>
          </a:xfrm>
          <a:prstGeom prst="rect">
            <a:avLst/>
          </a:prstGeom>
          <a:noFill/>
          <a:ln/>
        </p:spPr>
        <p:txBody>
          <a:bodyPr wrap="square" rtlCol="0" anchor="ctr"/>
          <a:lstStyle/>
          <a:p>
            <a:pPr indent="0" marL="0">
              <a:buNone/>
            </a:pPr>
            <a:r>
              <a:rPr lang="en-US" sz="1200" b="1" spc="200" kern="0" dirty="0">
                <a:solidFill>
                  <a:srgbClr val="2A9D8F"/>
                </a:solidFill>
                <a:latin typeface="Calibri" pitchFamily="34" charset="0"/>
                <a:ea typeface="Calibri" pitchFamily="34" charset="-122"/>
                <a:cs typeface="Calibri" pitchFamily="34" charset="-120"/>
              </a:rPr>
              <a:t>CLEANING &amp; EXPLORATION</a:t>
            </a:r>
            <a:endParaRPr lang="en-US" sz="1200" dirty="0"/>
          </a:p>
        </p:txBody>
      </p:sp>
      <p:sp>
        <p:nvSpPr>
          <p:cNvPr id="3" name="Text 1"/>
          <p:cNvSpPr/>
          <p:nvPr/>
        </p:nvSpPr>
        <p:spPr>
          <a:xfrm>
            <a:off x="548640" y="411480"/>
            <a:ext cx="11091672" cy="731520"/>
          </a:xfrm>
          <a:prstGeom prst="rect">
            <a:avLst/>
          </a:prstGeom>
          <a:noFill/>
          <a:ln/>
        </p:spPr>
        <p:txBody>
          <a:bodyPr wrap="square" rtlCol="0" anchor="ctr"/>
          <a:lstStyle/>
          <a:p>
            <a:pPr indent="0" marL="0">
              <a:buNone/>
            </a:pPr>
            <a:r>
              <a:rPr lang="en-US" sz="3000" b="1" dirty="0">
                <a:solidFill>
                  <a:srgbClr val="1C2B4A"/>
                </a:solidFill>
                <a:latin typeface="Georgia" pitchFamily="34" charset="0"/>
                <a:ea typeface="Georgia" pitchFamily="34" charset="-122"/>
                <a:cs typeface="Georgia" pitchFamily="34" charset="-120"/>
              </a:rPr>
              <a:t>Getting the data ready to trust</a:t>
            </a:r>
            <a:endParaRPr lang="en-US" sz="3000" dirty="0"/>
          </a:p>
        </p:txBody>
      </p:sp>
      <p:sp>
        <p:nvSpPr>
          <p:cNvPr id="4" name="Text 2"/>
          <p:cNvSpPr/>
          <p:nvPr/>
        </p:nvSpPr>
        <p:spPr>
          <a:xfrm>
            <a:off x="548640" y="1280160"/>
            <a:ext cx="5120640" cy="320040"/>
          </a:xfrm>
          <a:prstGeom prst="rect">
            <a:avLst/>
          </a:prstGeom>
          <a:noFill/>
          <a:ln/>
        </p:spPr>
        <p:txBody>
          <a:bodyPr wrap="square" rtlCol="0" anchor="ctr"/>
          <a:lstStyle/>
          <a:p>
            <a:pPr indent="0" marL="0">
              <a:buNone/>
            </a:pPr>
            <a:r>
              <a:rPr lang="en-US" sz="1400" b="1" dirty="0">
                <a:solidFill>
                  <a:srgbClr val="1C2B4A"/>
                </a:solidFill>
                <a:latin typeface="Calibri" pitchFamily="34" charset="0"/>
                <a:ea typeface="Calibri" pitchFamily="34" charset="-122"/>
                <a:cs typeface="Calibri" pitchFamily="34" charset="-120"/>
              </a:rPr>
              <a:t>Data Cleaning Steps</a:t>
            </a:r>
            <a:endParaRPr lang="en-US" sz="1400" dirty="0"/>
          </a:p>
        </p:txBody>
      </p:sp>
      <p:sp>
        <p:nvSpPr>
          <p:cNvPr id="5" name="Shape 3"/>
          <p:cNvSpPr/>
          <p:nvPr/>
        </p:nvSpPr>
        <p:spPr>
          <a:xfrm>
            <a:off x="548640" y="1755648"/>
            <a:ext cx="91440" cy="91440"/>
          </a:xfrm>
          <a:prstGeom prst="ellipse">
            <a:avLst/>
          </a:prstGeom>
          <a:solidFill>
            <a:srgbClr val="2A9D8F"/>
          </a:solidFill>
          <a:ln/>
        </p:spPr>
      </p:sp>
      <p:sp>
        <p:nvSpPr>
          <p:cNvPr id="6" name="Text 4"/>
          <p:cNvSpPr/>
          <p:nvPr/>
        </p:nvSpPr>
        <p:spPr>
          <a:xfrm>
            <a:off x="804672" y="1627632"/>
            <a:ext cx="4937760" cy="365760"/>
          </a:xfrm>
          <a:prstGeom prst="rect">
            <a:avLst/>
          </a:prstGeom>
          <a:noFill/>
          <a:ln/>
        </p:spPr>
        <p:txBody>
          <a:bodyPr wrap="square" rtlCol="0" anchor="ctr"/>
          <a:lstStyle/>
          <a:p>
            <a:pPr indent="0" marL="0">
              <a:buNone/>
            </a:pPr>
            <a:r>
              <a:rPr lang="en-US" sz="1250" dirty="0">
                <a:solidFill>
                  <a:srgbClr val="273043"/>
                </a:solidFill>
                <a:latin typeface="Calibri" pitchFamily="34" charset="0"/>
                <a:ea typeface="Calibri" pitchFamily="34" charset="-122"/>
                <a:cs typeface="Calibri" pitchFamily="34" charset="-120"/>
              </a:rPr>
              <a:t>Removed duplicate order records</a:t>
            </a:r>
            <a:endParaRPr lang="en-US" sz="1250" dirty="0"/>
          </a:p>
        </p:txBody>
      </p:sp>
      <p:sp>
        <p:nvSpPr>
          <p:cNvPr id="7" name="Shape 5"/>
          <p:cNvSpPr/>
          <p:nvPr/>
        </p:nvSpPr>
        <p:spPr>
          <a:xfrm>
            <a:off x="548640" y="2212848"/>
            <a:ext cx="91440" cy="91440"/>
          </a:xfrm>
          <a:prstGeom prst="ellipse">
            <a:avLst/>
          </a:prstGeom>
          <a:solidFill>
            <a:srgbClr val="2A9D8F"/>
          </a:solidFill>
          <a:ln/>
        </p:spPr>
      </p:sp>
      <p:sp>
        <p:nvSpPr>
          <p:cNvPr id="8" name="Text 6"/>
          <p:cNvSpPr/>
          <p:nvPr/>
        </p:nvSpPr>
        <p:spPr>
          <a:xfrm>
            <a:off x="804672" y="2084832"/>
            <a:ext cx="4937760" cy="365760"/>
          </a:xfrm>
          <a:prstGeom prst="rect">
            <a:avLst/>
          </a:prstGeom>
          <a:noFill/>
          <a:ln/>
        </p:spPr>
        <p:txBody>
          <a:bodyPr wrap="square" rtlCol="0" anchor="ctr"/>
          <a:lstStyle/>
          <a:p>
            <a:pPr indent="0" marL="0">
              <a:buNone/>
            </a:pPr>
            <a:r>
              <a:rPr lang="en-US" sz="1250" dirty="0">
                <a:solidFill>
                  <a:srgbClr val="273043"/>
                </a:solidFill>
                <a:latin typeface="Calibri" pitchFamily="34" charset="0"/>
                <a:ea typeface="Calibri" pitchFamily="34" charset="-122"/>
                <a:cs typeface="Calibri" pitchFamily="34" charset="-120"/>
              </a:rPr>
              <a:t>Handled missing values in customer and price fields</a:t>
            </a:r>
            <a:endParaRPr lang="en-US" sz="1250" dirty="0"/>
          </a:p>
        </p:txBody>
      </p:sp>
      <p:sp>
        <p:nvSpPr>
          <p:cNvPr id="9" name="Shape 7"/>
          <p:cNvSpPr/>
          <p:nvPr/>
        </p:nvSpPr>
        <p:spPr>
          <a:xfrm>
            <a:off x="548640" y="2670048"/>
            <a:ext cx="91440" cy="91440"/>
          </a:xfrm>
          <a:prstGeom prst="ellipse">
            <a:avLst/>
          </a:prstGeom>
          <a:solidFill>
            <a:srgbClr val="2A9D8F"/>
          </a:solidFill>
          <a:ln/>
        </p:spPr>
      </p:sp>
      <p:sp>
        <p:nvSpPr>
          <p:cNvPr id="10" name="Text 8"/>
          <p:cNvSpPr/>
          <p:nvPr/>
        </p:nvSpPr>
        <p:spPr>
          <a:xfrm>
            <a:off x="804672" y="2542032"/>
            <a:ext cx="4937760" cy="365760"/>
          </a:xfrm>
          <a:prstGeom prst="rect">
            <a:avLst/>
          </a:prstGeom>
          <a:noFill/>
          <a:ln/>
        </p:spPr>
        <p:txBody>
          <a:bodyPr wrap="square" rtlCol="0" anchor="ctr"/>
          <a:lstStyle/>
          <a:p>
            <a:pPr indent="0" marL="0">
              <a:buNone/>
            </a:pPr>
            <a:r>
              <a:rPr lang="en-US" sz="1250" dirty="0">
                <a:solidFill>
                  <a:srgbClr val="273043"/>
                </a:solidFill>
                <a:latin typeface="Calibri" pitchFamily="34" charset="0"/>
                <a:ea typeface="Calibri" pitchFamily="34" charset="-122"/>
                <a:cs typeface="Calibri" pitchFamily="34" charset="-120"/>
              </a:rPr>
              <a:t>Standardized date formats and city/category naming</a:t>
            </a:r>
            <a:endParaRPr lang="en-US" sz="1250" dirty="0"/>
          </a:p>
        </p:txBody>
      </p:sp>
      <p:sp>
        <p:nvSpPr>
          <p:cNvPr id="11" name="Shape 9"/>
          <p:cNvSpPr/>
          <p:nvPr/>
        </p:nvSpPr>
        <p:spPr>
          <a:xfrm>
            <a:off x="548640" y="3127248"/>
            <a:ext cx="91440" cy="91440"/>
          </a:xfrm>
          <a:prstGeom prst="ellipse">
            <a:avLst/>
          </a:prstGeom>
          <a:solidFill>
            <a:srgbClr val="2A9D8F"/>
          </a:solidFill>
          <a:ln/>
        </p:spPr>
      </p:sp>
      <p:sp>
        <p:nvSpPr>
          <p:cNvPr id="12" name="Text 10"/>
          <p:cNvSpPr/>
          <p:nvPr/>
        </p:nvSpPr>
        <p:spPr>
          <a:xfrm>
            <a:off x="804672" y="2999232"/>
            <a:ext cx="4937760" cy="365760"/>
          </a:xfrm>
          <a:prstGeom prst="rect">
            <a:avLst/>
          </a:prstGeom>
          <a:noFill/>
          <a:ln/>
        </p:spPr>
        <p:txBody>
          <a:bodyPr wrap="square" rtlCol="0" anchor="ctr"/>
          <a:lstStyle/>
          <a:p>
            <a:pPr indent="0" marL="0">
              <a:buNone/>
            </a:pPr>
            <a:r>
              <a:rPr lang="en-US" sz="1250" dirty="0">
                <a:solidFill>
                  <a:srgbClr val="273043"/>
                </a:solidFill>
                <a:latin typeface="Calibri" pitchFamily="34" charset="0"/>
                <a:ea typeface="Calibri" pitchFamily="34" charset="-122"/>
                <a:cs typeface="Calibri" pitchFamily="34" charset="-120"/>
              </a:rPr>
              <a:t>Flagged and reviewed outlier order values</a:t>
            </a:r>
            <a:endParaRPr lang="en-US" sz="1250" dirty="0"/>
          </a:p>
        </p:txBody>
      </p:sp>
      <p:sp>
        <p:nvSpPr>
          <p:cNvPr id="13" name="Shape 11"/>
          <p:cNvSpPr/>
          <p:nvPr/>
        </p:nvSpPr>
        <p:spPr>
          <a:xfrm>
            <a:off x="548640" y="3584448"/>
            <a:ext cx="91440" cy="91440"/>
          </a:xfrm>
          <a:prstGeom prst="ellipse">
            <a:avLst/>
          </a:prstGeom>
          <a:solidFill>
            <a:srgbClr val="2A9D8F"/>
          </a:solidFill>
          <a:ln/>
        </p:spPr>
      </p:sp>
      <p:sp>
        <p:nvSpPr>
          <p:cNvPr id="14" name="Text 12"/>
          <p:cNvSpPr/>
          <p:nvPr/>
        </p:nvSpPr>
        <p:spPr>
          <a:xfrm>
            <a:off x="804672" y="3456432"/>
            <a:ext cx="4937760" cy="365760"/>
          </a:xfrm>
          <a:prstGeom prst="rect">
            <a:avLst/>
          </a:prstGeom>
          <a:noFill/>
          <a:ln/>
        </p:spPr>
        <p:txBody>
          <a:bodyPr wrap="square" rtlCol="0" anchor="ctr"/>
          <a:lstStyle/>
          <a:p>
            <a:pPr indent="0" marL="0">
              <a:buNone/>
            </a:pPr>
            <a:r>
              <a:rPr lang="en-US" sz="1250" dirty="0">
                <a:solidFill>
                  <a:srgbClr val="273043"/>
                </a:solidFill>
                <a:latin typeface="Calibri" pitchFamily="34" charset="0"/>
                <a:ea typeface="Calibri" pitchFamily="34" charset="-122"/>
                <a:cs typeface="Calibri" pitchFamily="34" charset="-120"/>
              </a:rPr>
              <a:t>Engineered Sales_Category (High / Medium / Low)</a:t>
            </a:r>
            <a:endParaRPr lang="en-US" sz="1250" dirty="0"/>
          </a:p>
        </p:txBody>
      </p:sp>
      <p:sp>
        <p:nvSpPr>
          <p:cNvPr id="15" name="Text 13"/>
          <p:cNvSpPr/>
          <p:nvPr/>
        </p:nvSpPr>
        <p:spPr>
          <a:xfrm>
            <a:off x="548640" y="4114800"/>
            <a:ext cx="5120640" cy="548640"/>
          </a:xfrm>
          <a:prstGeom prst="rect">
            <a:avLst/>
          </a:prstGeom>
          <a:noFill/>
          <a:ln/>
        </p:spPr>
        <p:txBody>
          <a:bodyPr wrap="square" rtlCol="0" anchor="ctr"/>
          <a:lstStyle/>
          <a:p>
            <a:pPr indent="0" marL="0">
              <a:lnSpc>
                <a:spcPts val="1600"/>
              </a:lnSpc>
              <a:buNone/>
            </a:pPr>
            <a:r>
              <a:rPr lang="en-US" sz="1200" i="1" dirty="0">
                <a:solidFill>
                  <a:srgbClr val="6B7280"/>
                </a:solidFill>
                <a:latin typeface="Calibri" pitchFamily="34" charset="0"/>
                <a:ea typeface="Calibri" pitchFamily="34" charset="-122"/>
                <a:cs typeface="Calibri" pitchFamily="34" charset="-120"/>
              </a:rPr>
              <a:t>Result: a clean 1,000-row dataset, ready for analysis with no missing or duplicate records.</a:t>
            </a:r>
            <a:endParaRPr lang="en-US" sz="1200" dirty="0"/>
          </a:p>
        </p:txBody>
      </p:sp>
      <p:sp>
        <p:nvSpPr>
          <p:cNvPr id="16" name="Text 14"/>
          <p:cNvSpPr/>
          <p:nvPr/>
        </p:nvSpPr>
        <p:spPr>
          <a:xfrm>
            <a:off x="6035040" y="1280160"/>
            <a:ext cx="5577840" cy="320040"/>
          </a:xfrm>
          <a:prstGeom prst="rect">
            <a:avLst/>
          </a:prstGeom>
          <a:noFill/>
          <a:ln/>
        </p:spPr>
        <p:txBody>
          <a:bodyPr wrap="square" rtlCol="0" anchor="ctr"/>
          <a:lstStyle/>
          <a:p>
            <a:pPr indent="0" marL="0">
              <a:buNone/>
            </a:pPr>
            <a:r>
              <a:rPr lang="en-US" sz="1400" b="1" dirty="0">
                <a:solidFill>
                  <a:srgbClr val="1C2B4A"/>
                </a:solidFill>
                <a:latin typeface="Calibri" pitchFamily="34" charset="0"/>
                <a:ea typeface="Calibri" pitchFamily="34" charset="-122"/>
                <a:cs typeface="Calibri" pitchFamily="34" charset="-120"/>
              </a:rPr>
              <a:t>Revenue by Category (EDA)</a:t>
            </a:r>
            <a:endParaRPr lang="en-US" sz="1400" dirty="0"/>
          </a:p>
        </p:txBody>
      </p:sp>
      <p:graphicFrame>
        <p:nvGraphicFramePr>
          <p:cNvPr id="17" name="Chart 0" descr=""/>
          <p:cNvGraphicFramePr/>
          <p:nvPr/>
        </p:nvGraphicFramePr>
        <p:xfrm>
          <a:off x="5943600" y="1691640"/>
          <a:ext cx="5669280" cy="3931920"/>
        </p:xfrm>
        <a:graphic xmlns:a="http://schemas.openxmlformats.org/drawingml/2006/main">
          <a:graphicData uri="http://schemas.openxmlformats.org/drawingml/2006/chart">
            <c:chart xmlns:c="http://schemas.openxmlformats.org/drawingml/2006/chart" r:id="rId1"/>
          </a:graphicData>
        </a:graphic>
      </p:graphicFrame>
      <p:sp>
        <p:nvSpPr>
          <p:cNvPr id="18" name="Text 1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ApexPlanet Data Analytics Internship  |  Task 4</a:t>
            </a:r>
            <a:endParaRPr lang="en-US" sz="900" dirty="0"/>
          </a:p>
        </p:txBody>
      </p:sp>
      <p:sp>
        <p:nvSpPr>
          <p:cNvPr id="19" name="Text 1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64592"/>
            <a:ext cx="11091672" cy="274320"/>
          </a:xfrm>
          <a:prstGeom prst="rect">
            <a:avLst/>
          </a:prstGeom>
          <a:noFill/>
          <a:ln/>
        </p:spPr>
        <p:txBody>
          <a:bodyPr wrap="square" rtlCol="0" anchor="ctr"/>
          <a:lstStyle/>
          <a:p>
            <a:pPr indent="0" marL="0">
              <a:buNone/>
            </a:pPr>
            <a:r>
              <a:rPr lang="en-US" sz="1200" b="1" spc="200" kern="0" dirty="0">
                <a:solidFill>
                  <a:srgbClr val="2A9D8F"/>
                </a:solidFill>
                <a:latin typeface="Calibri" pitchFamily="34" charset="0"/>
                <a:ea typeface="Calibri" pitchFamily="34" charset="-122"/>
                <a:cs typeface="Calibri" pitchFamily="34" charset="-120"/>
              </a:rPr>
              <a:t>INTERACTIVE DASHBOARDING</a:t>
            </a:r>
            <a:endParaRPr lang="en-US" sz="1200" dirty="0"/>
          </a:p>
        </p:txBody>
      </p:sp>
      <p:sp>
        <p:nvSpPr>
          <p:cNvPr id="3" name="Text 1"/>
          <p:cNvSpPr/>
          <p:nvPr/>
        </p:nvSpPr>
        <p:spPr>
          <a:xfrm>
            <a:off x="548640" y="411480"/>
            <a:ext cx="11091672" cy="731520"/>
          </a:xfrm>
          <a:prstGeom prst="rect">
            <a:avLst/>
          </a:prstGeom>
          <a:noFill/>
          <a:ln/>
        </p:spPr>
        <p:txBody>
          <a:bodyPr wrap="square" rtlCol="0" anchor="ctr"/>
          <a:lstStyle/>
          <a:p>
            <a:pPr indent="0" marL="0">
              <a:buNone/>
            </a:pPr>
            <a:r>
              <a:rPr lang="en-US" sz="3000" b="1" dirty="0">
                <a:solidFill>
                  <a:srgbClr val="1C2B4A"/>
                </a:solidFill>
                <a:latin typeface="Georgia" pitchFamily="34" charset="0"/>
                <a:ea typeface="Georgia" pitchFamily="34" charset="-122"/>
                <a:cs typeface="Georgia" pitchFamily="34" charset="-120"/>
              </a:rPr>
              <a:t>The Power BI dashboard</a:t>
            </a:r>
            <a:endParaRPr lang="en-US" sz="3000" dirty="0"/>
          </a:p>
        </p:txBody>
      </p:sp>
      <p:sp>
        <p:nvSpPr>
          <p:cNvPr id="4" name="Text 2"/>
          <p:cNvSpPr/>
          <p:nvPr/>
        </p:nvSpPr>
        <p:spPr>
          <a:xfrm>
            <a:off x="548640" y="1280160"/>
            <a:ext cx="11064240" cy="548640"/>
          </a:xfrm>
          <a:prstGeom prst="rect">
            <a:avLst/>
          </a:prstGeom>
          <a:noFill/>
          <a:ln/>
        </p:spPr>
        <p:txBody>
          <a:bodyPr wrap="square"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Built in Power BI, the dashboard surfaces core KPIs and lets stakeholders filter by city, category and time period to explore the deep-dive analysis themselves.</a:t>
            </a:r>
            <a:endParaRPr lang="en-US" sz="1350" dirty="0"/>
          </a:p>
        </p:txBody>
      </p:sp>
      <p:sp>
        <p:nvSpPr>
          <p:cNvPr id="5" name="Shape 3"/>
          <p:cNvSpPr/>
          <p:nvPr/>
        </p:nvSpPr>
        <p:spPr>
          <a:xfrm>
            <a:off x="548640" y="2011680"/>
            <a:ext cx="2103120" cy="1051560"/>
          </a:xfrm>
          <a:prstGeom prst="roundRect">
            <a:avLst>
              <a:gd name="adj" fmla="val 8696"/>
            </a:avLst>
          </a:prstGeom>
          <a:solidFill>
            <a:srgbClr val="1C2B4A"/>
          </a:solidFill>
          <a:ln/>
        </p:spPr>
      </p:sp>
      <p:sp>
        <p:nvSpPr>
          <p:cNvPr id="6" name="Text 4"/>
          <p:cNvSpPr/>
          <p:nvPr/>
        </p:nvSpPr>
        <p:spPr>
          <a:xfrm>
            <a:off x="685800" y="2121408"/>
            <a:ext cx="1828800" cy="502920"/>
          </a:xfrm>
          <a:prstGeom prst="rect">
            <a:avLst/>
          </a:prstGeom>
          <a:noFill/>
          <a:ln/>
        </p:spPr>
        <p:txBody>
          <a:bodyPr wrap="square" rtlCol="0" anchor="ctr"/>
          <a:lstStyle/>
          <a:p>
            <a:pPr algn="ctr" indent="0" marL="0">
              <a:buNone/>
            </a:pPr>
            <a:r>
              <a:rPr lang="en-US" sz="2000" b="1" dirty="0">
                <a:solidFill>
                  <a:srgbClr val="E9C46A"/>
                </a:solidFill>
                <a:latin typeface="Georgia" pitchFamily="34" charset="0"/>
                <a:ea typeface="Georgia" pitchFamily="34" charset="-122"/>
                <a:cs typeface="Georgia" pitchFamily="34" charset="-120"/>
              </a:rPr>
              <a:t>₹13.94 Cr</a:t>
            </a:r>
            <a:endParaRPr lang="en-US" sz="2000" dirty="0"/>
          </a:p>
        </p:txBody>
      </p:sp>
      <p:sp>
        <p:nvSpPr>
          <p:cNvPr id="7" name="Text 5"/>
          <p:cNvSpPr/>
          <p:nvPr/>
        </p:nvSpPr>
        <p:spPr>
          <a:xfrm>
            <a:off x="640080" y="2633472"/>
            <a:ext cx="1920240" cy="365760"/>
          </a:xfrm>
          <a:prstGeom prst="rect">
            <a:avLst/>
          </a:prstGeom>
          <a:noFill/>
          <a:ln/>
        </p:spPr>
        <p:txBody>
          <a:bodyPr wrap="square" rtlCol="0" anchor="ctr"/>
          <a:lstStyle/>
          <a:p>
            <a:pPr algn="ctr" indent="0" marL="0">
              <a:buNone/>
            </a:pPr>
            <a:r>
              <a:rPr lang="en-US" sz="1050" dirty="0">
                <a:solidFill>
                  <a:srgbClr val="D7DEEA"/>
                </a:solidFill>
                <a:latin typeface="Calibri" pitchFamily="34" charset="0"/>
                <a:ea typeface="Calibri" pitchFamily="34" charset="-122"/>
                <a:cs typeface="Calibri" pitchFamily="34" charset="-120"/>
              </a:rPr>
              <a:t>Total Revenue</a:t>
            </a:r>
            <a:endParaRPr lang="en-US" sz="1050" dirty="0"/>
          </a:p>
        </p:txBody>
      </p:sp>
      <p:sp>
        <p:nvSpPr>
          <p:cNvPr id="8" name="Shape 6"/>
          <p:cNvSpPr/>
          <p:nvPr/>
        </p:nvSpPr>
        <p:spPr>
          <a:xfrm>
            <a:off x="2816352" y="2011680"/>
            <a:ext cx="2103120" cy="1051560"/>
          </a:xfrm>
          <a:prstGeom prst="roundRect">
            <a:avLst>
              <a:gd name="adj" fmla="val 8696"/>
            </a:avLst>
          </a:prstGeom>
          <a:solidFill>
            <a:srgbClr val="1C2B4A"/>
          </a:solidFill>
          <a:ln/>
        </p:spPr>
      </p:sp>
      <p:sp>
        <p:nvSpPr>
          <p:cNvPr id="9" name="Text 7"/>
          <p:cNvSpPr/>
          <p:nvPr/>
        </p:nvSpPr>
        <p:spPr>
          <a:xfrm>
            <a:off x="2953512" y="2121408"/>
            <a:ext cx="1828800" cy="502920"/>
          </a:xfrm>
          <a:prstGeom prst="rect">
            <a:avLst/>
          </a:prstGeom>
          <a:noFill/>
          <a:ln/>
        </p:spPr>
        <p:txBody>
          <a:bodyPr wrap="square" rtlCol="0" anchor="ctr"/>
          <a:lstStyle/>
          <a:p>
            <a:pPr algn="ctr" indent="0" marL="0">
              <a:buNone/>
            </a:pPr>
            <a:r>
              <a:rPr lang="en-US" sz="2000" b="1" dirty="0">
                <a:solidFill>
                  <a:srgbClr val="E9C46A"/>
                </a:solidFill>
                <a:latin typeface="Georgia" pitchFamily="34" charset="0"/>
                <a:ea typeface="Georgia" pitchFamily="34" charset="-122"/>
                <a:cs typeface="Georgia" pitchFamily="34" charset="-120"/>
              </a:rPr>
              <a:t>992</a:t>
            </a:r>
            <a:endParaRPr lang="en-US" sz="2000" dirty="0"/>
          </a:p>
        </p:txBody>
      </p:sp>
      <p:sp>
        <p:nvSpPr>
          <p:cNvPr id="10" name="Text 8"/>
          <p:cNvSpPr/>
          <p:nvPr/>
        </p:nvSpPr>
        <p:spPr>
          <a:xfrm>
            <a:off x="2907792" y="2633472"/>
            <a:ext cx="1920240" cy="365760"/>
          </a:xfrm>
          <a:prstGeom prst="rect">
            <a:avLst/>
          </a:prstGeom>
          <a:noFill/>
          <a:ln/>
        </p:spPr>
        <p:txBody>
          <a:bodyPr wrap="square" rtlCol="0" anchor="ctr"/>
          <a:lstStyle/>
          <a:p>
            <a:pPr algn="ctr" indent="0" marL="0">
              <a:buNone/>
            </a:pPr>
            <a:r>
              <a:rPr lang="en-US" sz="1050" dirty="0">
                <a:solidFill>
                  <a:srgbClr val="D7DEEA"/>
                </a:solidFill>
                <a:latin typeface="Calibri" pitchFamily="34" charset="0"/>
                <a:ea typeface="Calibri" pitchFamily="34" charset="-122"/>
                <a:cs typeface="Calibri" pitchFamily="34" charset="-120"/>
              </a:rPr>
              <a:t>Total Orders</a:t>
            </a:r>
            <a:endParaRPr lang="en-US" sz="1050" dirty="0"/>
          </a:p>
        </p:txBody>
      </p:sp>
      <p:sp>
        <p:nvSpPr>
          <p:cNvPr id="11" name="Shape 9"/>
          <p:cNvSpPr/>
          <p:nvPr/>
        </p:nvSpPr>
        <p:spPr>
          <a:xfrm>
            <a:off x="5084064" y="2011680"/>
            <a:ext cx="2103120" cy="1051560"/>
          </a:xfrm>
          <a:prstGeom prst="roundRect">
            <a:avLst>
              <a:gd name="adj" fmla="val 8696"/>
            </a:avLst>
          </a:prstGeom>
          <a:solidFill>
            <a:srgbClr val="1C2B4A"/>
          </a:solidFill>
          <a:ln/>
        </p:spPr>
      </p:sp>
      <p:sp>
        <p:nvSpPr>
          <p:cNvPr id="12" name="Text 10"/>
          <p:cNvSpPr/>
          <p:nvPr/>
        </p:nvSpPr>
        <p:spPr>
          <a:xfrm>
            <a:off x="5221224" y="2121408"/>
            <a:ext cx="1828800" cy="502920"/>
          </a:xfrm>
          <a:prstGeom prst="rect">
            <a:avLst/>
          </a:prstGeom>
          <a:noFill/>
          <a:ln/>
        </p:spPr>
        <p:txBody>
          <a:bodyPr wrap="square" rtlCol="0" anchor="ctr"/>
          <a:lstStyle/>
          <a:p>
            <a:pPr algn="ctr" indent="0" marL="0">
              <a:buNone/>
            </a:pPr>
            <a:r>
              <a:rPr lang="en-US" sz="2000" b="1" dirty="0">
                <a:solidFill>
                  <a:srgbClr val="E9C46A"/>
                </a:solidFill>
                <a:latin typeface="Georgia" pitchFamily="34" charset="0"/>
                <a:ea typeface="Georgia" pitchFamily="34" charset="-122"/>
                <a:cs typeface="Georgia" pitchFamily="34" charset="-120"/>
              </a:rPr>
              <a:t>947</a:t>
            </a:r>
            <a:endParaRPr lang="en-US" sz="2000" dirty="0"/>
          </a:p>
        </p:txBody>
      </p:sp>
      <p:sp>
        <p:nvSpPr>
          <p:cNvPr id="13" name="Text 11"/>
          <p:cNvSpPr/>
          <p:nvPr/>
        </p:nvSpPr>
        <p:spPr>
          <a:xfrm>
            <a:off x="5175504" y="2633472"/>
            <a:ext cx="1920240" cy="365760"/>
          </a:xfrm>
          <a:prstGeom prst="rect">
            <a:avLst/>
          </a:prstGeom>
          <a:noFill/>
          <a:ln/>
        </p:spPr>
        <p:txBody>
          <a:bodyPr wrap="square" rtlCol="0" anchor="ctr"/>
          <a:lstStyle/>
          <a:p>
            <a:pPr algn="ctr" indent="0" marL="0">
              <a:buNone/>
            </a:pPr>
            <a:r>
              <a:rPr lang="en-US" sz="1050" dirty="0">
                <a:solidFill>
                  <a:srgbClr val="D7DEEA"/>
                </a:solidFill>
                <a:latin typeface="Calibri" pitchFamily="34" charset="0"/>
                <a:ea typeface="Calibri" pitchFamily="34" charset="-122"/>
                <a:cs typeface="Calibri" pitchFamily="34" charset="-120"/>
              </a:rPr>
              <a:t>Total Customers</a:t>
            </a:r>
            <a:endParaRPr lang="en-US" sz="1050" dirty="0"/>
          </a:p>
        </p:txBody>
      </p:sp>
      <p:sp>
        <p:nvSpPr>
          <p:cNvPr id="14" name="Shape 12"/>
          <p:cNvSpPr/>
          <p:nvPr/>
        </p:nvSpPr>
        <p:spPr>
          <a:xfrm>
            <a:off x="7351776" y="2011680"/>
            <a:ext cx="2103120" cy="1051560"/>
          </a:xfrm>
          <a:prstGeom prst="roundRect">
            <a:avLst>
              <a:gd name="adj" fmla="val 8696"/>
            </a:avLst>
          </a:prstGeom>
          <a:solidFill>
            <a:srgbClr val="1C2B4A"/>
          </a:solidFill>
          <a:ln/>
        </p:spPr>
      </p:sp>
      <p:sp>
        <p:nvSpPr>
          <p:cNvPr id="15" name="Text 13"/>
          <p:cNvSpPr/>
          <p:nvPr/>
        </p:nvSpPr>
        <p:spPr>
          <a:xfrm>
            <a:off x="7488936" y="2121408"/>
            <a:ext cx="1828800" cy="502920"/>
          </a:xfrm>
          <a:prstGeom prst="rect">
            <a:avLst/>
          </a:prstGeom>
          <a:noFill/>
          <a:ln/>
        </p:spPr>
        <p:txBody>
          <a:bodyPr wrap="square" rtlCol="0" anchor="ctr"/>
          <a:lstStyle/>
          <a:p>
            <a:pPr algn="ctr" indent="0" marL="0">
              <a:buNone/>
            </a:pPr>
            <a:r>
              <a:rPr lang="en-US" sz="2000" b="1" dirty="0">
                <a:solidFill>
                  <a:srgbClr val="E9C46A"/>
                </a:solidFill>
                <a:latin typeface="Georgia" pitchFamily="34" charset="0"/>
                <a:ea typeface="Georgia" pitchFamily="34" charset="-122"/>
                <a:cs typeface="Georgia" pitchFamily="34" charset="-120"/>
              </a:rPr>
              <a:t>₹1.39 L</a:t>
            </a:r>
            <a:endParaRPr lang="en-US" sz="2000" dirty="0"/>
          </a:p>
        </p:txBody>
      </p:sp>
      <p:sp>
        <p:nvSpPr>
          <p:cNvPr id="16" name="Text 14"/>
          <p:cNvSpPr/>
          <p:nvPr/>
        </p:nvSpPr>
        <p:spPr>
          <a:xfrm>
            <a:off x="7443216" y="2633472"/>
            <a:ext cx="1920240" cy="365760"/>
          </a:xfrm>
          <a:prstGeom prst="rect">
            <a:avLst/>
          </a:prstGeom>
          <a:noFill/>
          <a:ln/>
        </p:spPr>
        <p:txBody>
          <a:bodyPr wrap="square" rtlCol="0" anchor="ctr"/>
          <a:lstStyle/>
          <a:p>
            <a:pPr algn="ctr" indent="0" marL="0">
              <a:buNone/>
            </a:pPr>
            <a:r>
              <a:rPr lang="en-US" sz="1050" dirty="0">
                <a:solidFill>
                  <a:srgbClr val="D7DEEA"/>
                </a:solidFill>
                <a:latin typeface="Calibri" pitchFamily="34" charset="0"/>
                <a:ea typeface="Calibri" pitchFamily="34" charset="-122"/>
                <a:cs typeface="Calibri" pitchFamily="34" charset="-120"/>
              </a:rPr>
              <a:t>Avg. Order Value</a:t>
            </a:r>
            <a:endParaRPr lang="en-US" sz="1050" dirty="0"/>
          </a:p>
        </p:txBody>
      </p:sp>
      <p:sp>
        <p:nvSpPr>
          <p:cNvPr id="17" name="Shape 15"/>
          <p:cNvSpPr/>
          <p:nvPr/>
        </p:nvSpPr>
        <p:spPr>
          <a:xfrm>
            <a:off x="9619488" y="2011680"/>
            <a:ext cx="2103120" cy="1051560"/>
          </a:xfrm>
          <a:prstGeom prst="roundRect">
            <a:avLst>
              <a:gd name="adj" fmla="val 8696"/>
            </a:avLst>
          </a:prstGeom>
          <a:solidFill>
            <a:srgbClr val="1C2B4A"/>
          </a:solidFill>
          <a:ln/>
        </p:spPr>
      </p:sp>
      <p:sp>
        <p:nvSpPr>
          <p:cNvPr id="18" name="Text 16"/>
          <p:cNvSpPr/>
          <p:nvPr/>
        </p:nvSpPr>
        <p:spPr>
          <a:xfrm>
            <a:off x="9756648" y="2121408"/>
            <a:ext cx="1828800" cy="502920"/>
          </a:xfrm>
          <a:prstGeom prst="rect">
            <a:avLst/>
          </a:prstGeom>
          <a:noFill/>
          <a:ln/>
        </p:spPr>
        <p:txBody>
          <a:bodyPr wrap="square" rtlCol="0" anchor="ctr"/>
          <a:lstStyle/>
          <a:p>
            <a:pPr algn="ctr" indent="0" marL="0">
              <a:buNone/>
            </a:pPr>
            <a:r>
              <a:rPr lang="en-US" sz="2000" b="1" dirty="0">
                <a:solidFill>
                  <a:srgbClr val="E9C46A"/>
                </a:solidFill>
                <a:latin typeface="Georgia" pitchFamily="34" charset="0"/>
                <a:ea typeface="Georgia" pitchFamily="34" charset="-122"/>
                <a:cs typeface="Georgia" pitchFamily="34" charset="-120"/>
              </a:rPr>
              <a:t>5.4</a:t>
            </a:r>
            <a:endParaRPr lang="en-US" sz="2000" dirty="0"/>
          </a:p>
        </p:txBody>
      </p:sp>
      <p:sp>
        <p:nvSpPr>
          <p:cNvPr id="19" name="Text 17"/>
          <p:cNvSpPr/>
          <p:nvPr/>
        </p:nvSpPr>
        <p:spPr>
          <a:xfrm>
            <a:off x="9710928" y="2633472"/>
            <a:ext cx="1920240" cy="365760"/>
          </a:xfrm>
          <a:prstGeom prst="rect">
            <a:avLst/>
          </a:prstGeom>
          <a:noFill/>
          <a:ln/>
        </p:spPr>
        <p:txBody>
          <a:bodyPr wrap="square" rtlCol="0" anchor="ctr"/>
          <a:lstStyle/>
          <a:p>
            <a:pPr algn="ctr" indent="0" marL="0">
              <a:buNone/>
            </a:pPr>
            <a:r>
              <a:rPr lang="en-US" sz="1050" dirty="0">
                <a:solidFill>
                  <a:srgbClr val="D7DEEA"/>
                </a:solidFill>
                <a:latin typeface="Calibri" pitchFamily="34" charset="0"/>
                <a:ea typeface="Calibri" pitchFamily="34" charset="-122"/>
                <a:cs typeface="Calibri" pitchFamily="34" charset="-120"/>
              </a:rPr>
              <a:t>Avg. Quantity / Order</a:t>
            </a:r>
            <a:endParaRPr lang="en-US" sz="1050" dirty="0"/>
          </a:p>
        </p:txBody>
      </p:sp>
      <p:sp>
        <p:nvSpPr>
          <p:cNvPr id="20" name="Text 18"/>
          <p:cNvSpPr/>
          <p:nvPr/>
        </p:nvSpPr>
        <p:spPr>
          <a:xfrm>
            <a:off x="548640" y="3291840"/>
            <a:ext cx="5486400" cy="320040"/>
          </a:xfrm>
          <a:prstGeom prst="rect">
            <a:avLst/>
          </a:prstGeom>
          <a:noFill/>
          <a:ln/>
        </p:spPr>
        <p:txBody>
          <a:bodyPr wrap="square" rtlCol="0" anchor="ctr"/>
          <a:lstStyle/>
          <a:p>
            <a:pPr indent="0" marL="0">
              <a:buNone/>
            </a:pPr>
            <a:r>
              <a:rPr lang="en-US" sz="1300" b="1" dirty="0">
                <a:solidFill>
                  <a:srgbClr val="1C2B4A"/>
                </a:solidFill>
                <a:latin typeface="Calibri" pitchFamily="34" charset="0"/>
                <a:ea typeface="Calibri" pitchFamily="34" charset="-122"/>
                <a:cs typeface="Calibri" pitchFamily="34" charset="-120"/>
              </a:rPr>
              <a:t>Monthly Sales Trend — 2025</a:t>
            </a:r>
            <a:endParaRPr lang="en-US" sz="1300" dirty="0"/>
          </a:p>
        </p:txBody>
      </p:sp>
      <p:graphicFrame>
        <p:nvGraphicFramePr>
          <p:cNvPr id="21" name="Chart 0" descr=""/>
          <p:cNvGraphicFramePr/>
          <p:nvPr/>
        </p:nvGraphicFramePr>
        <p:xfrm>
          <a:off x="502920" y="3657600"/>
          <a:ext cx="5577840" cy="2788920"/>
        </p:xfrm>
        <a:graphic xmlns:a="http://schemas.openxmlformats.org/drawingml/2006/main">
          <a:graphicData uri="http://schemas.openxmlformats.org/drawingml/2006/chart">
            <c:chart xmlns:c="http://schemas.openxmlformats.org/drawingml/2006/chart" r:id="rId1"/>
          </a:graphicData>
        </a:graphic>
      </p:graphicFrame>
      <p:sp>
        <p:nvSpPr>
          <p:cNvPr id="22" name="Text 19"/>
          <p:cNvSpPr/>
          <p:nvPr/>
        </p:nvSpPr>
        <p:spPr>
          <a:xfrm>
            <a:off x="6355080" y="3291840"/>
            <a:ext cx="5303520" cy="320040"/>
          </a:xfrm>
          <a:prstGeom prst="rect">
            <a:avLst/>
          </a:prstGeom>
          <a:noFill/>
          <a:ln/>
        </p:spPr>
        <p:txBody>
          <a:bodyPr wrap="square" rtlCol="0" anchor="ctr"/>
          <a:lstStyle/>
          <a:p>
            <a:pPr indent="0" marL="0">
              <a:buNone/>
            </a:pPr>
            <a:r>
              <a:rPr lang="en-US" sz="1300" b="1" dirty="0">
                <a:solidFill>
                  <a:srgbClr val="1C2B4A"/>
                </a:solidFill>
                <a:latin typeface="Calibri" pitchFamily="34" charset="0"/>
                <a:ea typeface="Calibri" pitchFamily="34" charset="-122"/>
                <a:cs typeface="Calibri" pitchFamily="34" charset="-120"/>
              </a:rPr>
              <a:t>Top 5 Cities by Revenue</a:t>
            </a:r>
            <a:endParaRPr lang="en-US" sz="1300" dirty="0"/>
          </a:p>
        </p:txBody>
      </p:sp>
      <p:graphicFrame>
        <p:nvGraphicFramePr>
          <p:cNvPr id="23" name="Chart 1" descr=""/>
          <p:cNvGraphicFramePr/>
          <p:nvPr/>
        </p:nvGraphicFramePr>
        <p:xfrm>
          <a:off x="6309360" y="3657600"/>
          <a:ext cx="5349240" cy="2788920"/>
        </p:xfrm>
        <a:graphic xmlns:a="http://schemas.openxmlformats.org/drawingml/2006/main">
          <a:graphicData uri="http://schemas.openxmlformats.org/drawingml/2006/chart">
            <c:chart xmlns:c="http://schemas.openxmlformats.org/drawingml/2006/chart" r:id="rId2"/>
          </a:graphicData>
        </a:graphic>
      </p:graphicFrame>
      <p:sp>
        <p:nvSpPr>
          <p:cNvPr id="24" name="Text 20"/>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ApexPlanet Data Analytics Internship  |  Task 4</a:t>
            </a:r>
            <a:endParaRPr lang="en-US" sz="900" dirty="0"/>
          </a:p>
        </p:txBody>
      </p:sp>
      <p:sp>
        <p:nvSpPr>
          <p:cNvPr id="25" name="Text 21"/>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64592"/>
            <a:ext cx="11091672" cy="274320"/>
          </a:xfrm>
          <a:prstGeom prst="rect">
            <a:avLst/>
          </a:prstGeom>
          <a:noFill/>
          <a:ln/>
        </p:spPr>
        <p:txBody>
          <a:bodyPr wrap="square" rtlCol="0" anchor="ctr"/>
          <a:lstStyle/>
          <a:p>
            <a:pPr indent="0" marL="0">
              <a:buNone/>
            </a:pPr>
            <a:r>
              <a:rPr lang="en-US" sz="1200" b="1" spc="200" kern="0" dirty="0">
                <a:solidFill>
                  <a:srgbClr val="2A9D8F"/>
                </a:solidFill>
                <a:latin typeface="Calibri" pitchFamily="34" charset="0"/>
                <a:ea typeface="Calibri" pitchFamily="34" charset="-122"/>
                <a:cs typeface="Calibri" pitchFamily="34" charset="-120"/>
              </a:rPr>
              <a:t>WHAT WE FOUND</a:t>
            </a:r>
            <a:endParaRPr lang="en-US" sz="1200" dirty="0"/>
          </a:p>
        </p:txBody>
      </p:sp>
      <p:sp>
        <p:nvSpPr>
          <p:cNvPr id="3" name="Text 1"/>
          <p:cNvSpPr/>
          <p:nvPr/>
        </p:nvSpPr>
        <p:spPr>
          <a:xfrm>
            <a:off x="548640" y="411480"/>
            <a:ext cx="11091672" cy="731520"/>
          </a:xfrm>
          <a:prstGeom prst="rect">
            <a:avLst/>
          </a:prstGeom>
          <a:noFill/>
          <a:ln/>
        </p:spPr>
        <p:txBody>
          <a:bodyPr wrap="square" rtlCol="0" anchor="ctr"/>
          <a:lstStyle/>
          <a:p>
            <a:pPr indent="0" marL="0">
              <a:buNone/>
            </a:pPr>
            <a:r>
              <a:rPr lang="en-US" sz="3000" b="1" dirty="0">
                <a:solidFill>
                  <a:srgbClr val="1C2B4A"/>
                </a:solidFill>
                <a:latin typeface="Georgia" pitchFamily="34" charset="0"/>
                <a:ea typeface="Georgia" pitchFamily="34" charset="-122"/>
                <a:cs typeface="Georgia" pitchFamily="34" charset="-120"/>
              </a:rPr>
              <a:t>Key business insights</a:t>
            </a:r>
            <a:endParaRPr lang="en-US" sz="3000" dirty="0"/>
          </a:p>
        </p:txBody>
      </p:sp>
      <p:graphicFrame>
        <p:nvGraphicFramePr>
          <p:cNvPr id="4" name="Chart 0" descr=""/>
          <p:cNvGraphicFramePr/>
          <p:nvPr/>
        </p:nvGraphicFramePr>
        <p:xfrm>
          <a:off x="457200" y="1325880"/>
          <a:ext cx="5669280" cy="33832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355080" y="1371600"/>
            <a:ext cx="5349240" cy="896112"/>
          </a:xfrm>
          <a:prstGeom prst="roundRect">
            <a:avLst>
              <a:gd name="adj" fmla="val 8163"/>
            </a:avLst>
          </a:prstGeom>
          <a:solidFill>
            <a:srgbClr val="F4F6F9"/>
          </a:solidFill>
          <a:ln/>
        </p:spPr>
      </p:sp>
      <p:sp>
        <p:nvSpPr>
          <p:cNvPr id="6" name="Shape 3"/>
          <p:cNvSpPr/>
          <p:nvPr/>
        </p:nvSpPr>
        <p:spPr>
          <a:xfrm>
            <a:off x="6355080" y="1371600"/>
            <a:ext cx="82296" cy="896112"/>
          </a:xfrm>
          <a:prstGeom prst="roundRect">
            <a:avLst/>
          </a:prstGeom>
          <a:solidFill>
            <a:srgbClr val="2A9D8F"/>
          </a:solidFill>
          <a:ln/>
        </p:spPr>
      </p:sp>
      <p:sp>
        <p:nvSpPr>
          <p:cNvPr id="7" name="Text 4"/>
          <p:cNvSpPr/>
          <p:nvPr/>
        </p:nvSpPr>
        <p:spPr>
          <a:xfrm>
            <a:off x="6583680" y="1444752"/>
            <a:ext cx="5029200" cy="320040"/>
          </a:xfrm>
          <a:prstGeom prst="rect">
            <a:avLst/>
          </a:prstGeom>
          <a:noFill/>
          <a:ln/>
        </p:spPr>
        <p:txBody>
          <a:bodyPr wrap="square" rtlCol="0" anchor="ctr"/>
          <a:lstStyle/>
          <a:p>
            <a:pPr indent="0" marL="0">
              <a:buNone/>
            </a:pPr>
            <a:r>
              <a:rPr lang="en-US" sz="1250" b="1" dirty="0">
                <a:solidFill>
                  <a:srgbClr val="1C2B4A"/>
                </a:solidFill>
                <a:latin typeface="Calibri" pitchFamily="34" charset="0"/>
                <a:ea typeface="Calibri" pitchFamily="34" charset="-122"/>
                <a:cs typeface="Calibri" pitchFamily="34" charset="-120"/>
              </a:rPr>
              <a:t>Electronics leads the way</a:t>
            </a:r>
            <a:endParaRPr lang="en-US" sz="1250" dirty="0"/>
          </a:p>
        </p:txBody>
      </p:sp>
      <p:sp>
        <p:nvSpPr>
          <p:cNvPr id="8" name="Text 5"/>
          <p:cNvSpPr/>
          <p:nvPr/>
        </p:nvSpPr>
        <p:spPr>
          <a:xfrm>
            <a:off x="6583680" y="1755648"/>
            <a:ext cx="5029200" cy="457200"/>
          </a:xfrm>
          <a:prstGeom prst="rect">
            <a:avLst/>
          </a:prstGeom>
          <a:noFill/>
          <a:ln/>
        </p:spPr>
        <p:txBody>
          <a:bodyPr wrap="square" rtlCol="0" anchor="ctr"/>
          <a:lstStyle/>
          <a:p>
            <a:pPr indent="0" marL="0">
              <a:lnSpc>
                <a:spcPts val="1300"/>
              </a:lnSpc>
              <a:buNone/>
            </a:pPr>
            <a:r>
              <a:rPr lang="en-US" sz="1050" dirty="0">
                <a:solidFill>
                  <a:srgbClr val="6B7280"/>
                </a:solidFill>
                <a:latin typeface="Calibri" pitchFamily="34" charset="0"/>
                <a:ea typeface="Calibri" pitchFamily="34" charset="-122"/>
                <a:cs typeface="Calibri" pitchFamily="34" charset="-120"/>
              </a:rPr>
              <a:t>Electronics alone brings in ₹5.08 Cr — over a third of total revenue, led closely by Laptops and Mobiles.</a:t>
            </a:r>
            <a:endParaRPr lang="en-US" sz="1050" dirty="0"/>
          </a:p>
        </p:txBody>
      </p:sp>
      <p:sp>
        <p:nvSpPr>
          <p:cNvPr id="9" name="Shape 6"/>
          <p:cNvSpPr/>
          <p:nvPr/>
        </p:nvSpPr>
        <p:spPr>
          <a:xfrm>
            <a:off x="6355080" y="2377440"/>
            <a:ext cx="5349240" cy="896112"/>
          </a:xfrm>
          <a:prstGeom prst="roundRect">
            <a:avLst>
              <a:gd name="adj" fmla="val 8163"/>
            </a:avLst>
          </a:prstGeom>
          <a:solidFill>
            <a:srgbClr val="F4F6F9"/>
          </a:solidFill>
          <a:ln/>
        </p:spPr>
      </p:sp>
      <p:sp>
        <p:nvSpPr>
          <p:cNvPr id="10" name="Shape 7"/>
          <p:cNvSpPr/>
          <p:nvPr/>
        </p:nvSpPr>
        <p:spPr>
          <a:xfrm>
            <a:off x="6355080" y="2377440"/>
            <a:ext cx="82296" cy="896112"/>
          </a:xfrm>
          <a:prstGeom prst="roundRect">
            <a:avLst/>
          </a:prstGeom>
          <a:solidFill>
            <a:srgbClr val="2A9D8F"/>
          </a:solidFill>
          <a:ln/>
        </p:spPr>
      </p:sp>
      <p:sp>
        <p:nvSpPr>
          <p:cNvPr id="11" name="Text 8"/>
          <p:cNvSpPr/>
          <p:nvPr/>
        </p:nvSpPr>
        <p:spPr>
          <a:xfrm>
            <a:off x="6583680" y="2450592"/>
            <a:ext cx="5029200" cy="320040"/>
          </a:xfrm>
          <a:prstGeom prst="rect">
            <a:avLst/>
          </a:prstGeom>
          <a:noFill/>
          <a:ln/>
        </p:spPr>
        <p:txBody>
          <a:bodyPr wrap="square" rtlCol="0" anchor="ctr"/>
          <a:lstStyle/>
          <a:p>
            <a:pPr indent="0" marL="0">
              <a:buNone/>
            </a:pPr>
            <a:r>
              <a:rPr lang="en-US" sz="1250" b="1" dirty="0">
                <a:solidFill>
                  <a:srgbClr val="1C2B4A"/>
                </a:solidFill>
                <a:latin typeface="Calibri" pitchFamily="34" charset="0"/>
                <a:ea typeface="Calibri" pitchFamily="34" charset="-122"/>
                <a:cs typeface="Calibri" pitchFamily="34" charset="-120"/>
              </a:rPr>
              <a:t>Revenue is broad-based, not one-hit</a:t>
            </a:r>
            <a:endParaRPr lang="en-US" sz="1250" dirty="0"/>
          </a:p>
        </p:txBody>
      </p:sp>
      <p:sp>
        <p:nvSpPr>
          <p:cNvPr id="12" name="Text 9"/>
          <p:cNvSpPr/>
          <p:nvPr/>
        </p:nvSpPr>
        <p:spPr>
          <a:xfrm>
            <a:off x="6583680" y="2761488"/>
            <a:ext cx="5029200" cy="457200"/>
          </a:xfrm>
          <a:prstGeom prst="rect">
            <a:avLst/>
          </a:prstGeom>
          <a:noFill/>
          <a:ln/>
        </p:spPr>
        <p:txBody>
          <a:bodyPr wrap="square" rtlCol="0" anchor="ctr"/>
          <a:lstStyle/>
          <a:p>
            <a:pPr indent="0" marL="0">
              <a:lnSpc>
                <a:spcPts val="1300"/>
              </a:lnSpc>
              <a:buNone/>
            </a:pPr>
            <a:r>
              <a:rPr lang="en-US" sz="1050" dirty="0">
                <a:solidFill>
                  <a:srgbClr val="6B7280"/>
                </a:solidFill>
                <a:latin typeface="Calibri" pitchFamily="34" charset="0"/>
                <a:ea typeface="Calibri" pitchFamily="34" charset="-122"/>
                <a:cs typeface="Calibri" pitchFamily="34" charset="-120"/>
              </a:rPr>
              <a:t>The top 5 products are within ₹0.4 Cr of each other — no single product carries the business alone.</a:t>
            </a:r>
            <a:endParaRPr lang="en-US" sz="1050" dirty="0"/>
          </a:p>
        </p:txBody>
      </p:sp>
      <p:sp>
        <p:nvSpPr>
          <p:cNvPr id="13" name="Shape 10"/>
          <p:cNvSpPr/>
          <p:nvPr/>
        </p:nvSpPr>
        <p:spPr>
          <a:xfrm>
            <a:off x="6355080" y="3383280"/>
            <a:ext cx="5349240" cy="896112"/>
          </a:xfrm>
          <a:prstGeom prst="roundRect">
            <a:avLst>
              <a:gd name="adj" fmla="val 8163"/>
            </a:avLst>
          </a:prstGeom>
          <a:solidFill>
            <a:srgbClr val="F4F6F9"/>
          </a:solidFill>
          <a:ln/>
        </p:spPr>
      </p:sp>
      <p:sp>
        <p:nvSpPr>
          <p:cNvPr id="14" name="Shape 11"/>
          <p:cNvSpPr/>
          <p:nvPr/>
        </p:nvSpPr>
        <p:spPr>
          <a:xfrm>
            <a:off x="6355080" y="3383280"/>
            <a:ext cx="82296" cy="896112"/>
          </a:xfrm>
          <a:prstGeom prst="roundRect">
            <a:avLst/>
          </a:prstGeom>
          <a:solidFill>
            <a:srgbClr val="2A9D8F"/>
          </a:solidFill>
          <a:ln/>
        </p:spPr>
      </p:sp>
      <p:sp>
        <p:nvSpPr>
          <p:cNvPr id="15" name="Text 12"/>
          <p:cNvSpPr/>
          <p:nvPr/>
        </p:nvSpPr>
        <p:spPr>
          <a:xfrm>
            <a:off x="6583680" y="3456432"/>
            <a:ext cx="5029200" cy="320040"/>
          </a:xfrm>
          <a:prstGeom prst="rect">
            <a:avLst/>
          </a:prstGeom>
          <a:noFill/>
          <a:ln/>
        </p:spPr>
        <p:txBody>
          <a:bodyPr wrap="square" rtlCol="0" anchor="ctr"/>
          <a:lstStyle/>
          <a:p>
            <a:pPr indent="0" marL="0">
              <a:buNone/>
            </a:pPr>
            <a:r>
              <a:rPr lang="en-US" sz="1250" b="1" dirty="0">
                <a:solidFill>
                  <a:srgbClr val="1C2B4A"/>
                </a:solidFill>
                <a:latin typeface="Calibri" pitchFamily="34" charset="0"/>
                <a:ea typeface="Calibri" pitchFamily="34" charset="-122"/>
                <a:cs typeface="Calibri" pitchFamily="34" charset="-120"/>
              </a:rPr>
              <a:t>Orders run high-value by default</a:t>
            </a:r>
            <a:endParaRPr lang="en-US" sz="1250" dirty="0"/>
          </a:p>
        </p:txBody>
      </p:sp>
      <p:sp>
        <p:nvSpPr>
          <p:cNvPr id="16" name="Text 13"/>
          <p:cNvSpPr/>
          <p:nvPr/>
        </p:nvSpPr>
        <p:spPr>
          <a:xfrm>
            <a:off x="6583680" y="3767328"/>
            <a:ext cx="5029200" cy="457200"/>
          </a:xfrm>
          <a:prstGeom prst="rect">
            <a:avLst/>
          </a:prstGeom>
          <a:noFill/>
          <a:ln/>
        </p:spPr>
        <p:txBody>
          <a:bodyPr wrap="square" rtlCol="0" anchor="ctr"/>
          <a:lstStyle/>
          <a:p>
            <a:pPr indent="0" marL="0">
              <a:lnSpc>
                <a:spcPts val="1300"/>
              </a:lnSpc>
              <a:buNone/>
            </a:pPr>
            <a:r>
              <a:rPr lang="en-US" sz="1050" dirty="0">
                <a:solidFill>
                  <a:srgbClr val="6B7280"/>
                </a:solidFill>
                <a:latin typeface="Calibri" pitchFamily="34" charset="0"/>
                <a:ea typeface="Calibri" pitchFamily="34" charset="-122"/>
                <a:cs typeface="Calibri" pitchFamily="34" charset="-120"/>
              </a:rPr>
              <a:t>919 of 992 orders (93%) fall into the 'High' sales category, well above the ₹10,000 benchmark.</a:t>
            </a:r>
            <a:endParaRPr lang="en-US" sz="1050" dirty="0"/>
          </a:p>
        </p:txBody>
      </p:sp>
      <p:sp>
        <p:nvSpPr>
          <p:cNvPr id="17" name="Shape 14"/>
          <p:cNvSpPr/>
          <p:nvPr/>
        </p:nvSpPr>
        <p:spPr>
          <a:xfrm>
            <a:off x="6355080" y="4389120"/>
            <a:ext cx="5349240" cy="896112"/>
          </a:xfrm>
          <a:prstGeom prst="roundRect">
            <a:avLst>
              <a:gd name="adj" fmla="val 8163"/>
            </a:avLst>
          </a:prstGeom>
          <a:solidFill>
            <a:srgbClr val="F4F6F9"/>
          </a:solidFill>
          <a:ln/>
        </p:spPr>
      </p:sp>
      <p:sp>
        <p:nvSpPr>
          <p:cNvPr id="18" name="Shape 15"/>
          <p:cNvSpPr/>
          <p:nvPr/>
        </p:nvSpPr>
        <p:spPr>
          <a:xfrm>
            <a:off x="6355080" y="4389120"/>
            <a:ext cx="82296" cy="896112"/>
          </a:xfrm>
          <a:prstGeom prst="roundRect">
            <a:avLst/>
          </a:prstGeom>
          <a:solidFill>
            <a:srgbClr val="2A9D8F"/>
          </a:solidFill>
          <a:ln/>
        </p:spPr>
      </p:sp>
      <p:sp>
        <p:nvSpPr>
          <p:cNvPr id="19" name="Text 16"/>
          <p:cNvSpPr/>
          <p:nvPr/>
        </p:nvSpPr>
        <p:spPr>
          <a:xfrm>
            <a:off x="6583680" y="4462272"/>
            <a:ext cx="5029200" cy="320040"/>
          </a:xfrm>
          <a:prstGeom prst="rect">
            <a:avLst/>
          </a:prstGeom>
          <a:noFill/>
          <a:ln/>
        </p:spPr>
        <p:txBody>
          <a:bodyPr wrap="square" rtlCol="0" anchor="ctr"/>
          <a:lstStyle/>
          <a:p>
            <a:pPr indent="0" marL="0">
              <a:buNone/>
            </a:pPr>
            <a:r>
              <a:rPr lang="en-US" sz="1250" b="1" dirty="0">
                <a:solidFill>
                  <a:srgbClr val="1C2B4A"/>
                </a:solidFill>
                <a:latin typeface="Calibri" pitchFamily="34" charset="0"/>
                <a:ea typeface="Calibri" pitchFamily="34" charset="-122"/>
                <a:cs typeface="Calibri" pitchFamily="34" charset="-120"/>
              </a:rPr>
              <a:t>Demand holds steady, dips mid-year</a:t>
            </a:r>
            <a:endParaRPr lang="en-US" sz="1250" dirty="0"/>
          </a:p>
        </p:txBody>
      </p:sp>
      <p:sp>
        <p:nvSpPr>
          <p:cNvPr id="20" name="Text 17"/>
          <p:cNvSpPr/>
          <p:nvPr/>
        </p:nvSpPr>
        <p:spPr>
          <a:xfrm>
            <a:off x="6583680" y="4773168"/>
            <a:ext cx="5029200" cy="457200"/>
          </a:xfrm>
          <a:prstGeom prst="rect">
            <a:avLst/>
          </a:prstGeom>
          <a:noFill/>
          <a:ln/>
        </p:spPr>
        <p:txBody>
          <a:bodyPr wrap="square" rtlCol="0" anchor="ctr"/>
          <a:lstStyle/>
          <a:p>
            <a:pPr indent="0" marL="0">
              <a:lnSpc>
                <a:spcPts val="1300"/>
              </a:lnSpc>
              <a:buNone/>
            </a:pPr>
            <a:r>
              <a:rPr lang="en-US" sz="1050" dirty="0">
                <a:solidFill>
                  <a:srgbClr val="6B7280"/>
                </a:solidFill>
                <a:latin typeface="Calibri" pitchFamily="34" charset="0"/>
                <a:ea typeface="Calibri" pitchFamily="34" charset="-122"/>
                <a:cs typeface="Calibri" pitchFamily="34" charset="-120"/>
              </a:rPr>
              <a:t>Monthly revenue stays in the ₹0.9–1.3 Cr range, with a soft patch in Aug–Sep.</a:t>
            </a:r>
            <a:endParaRPr lang="en-US" sz="1050" dirty="0"/>
          </a:p>
        </p:txBody>
      </p:sp>
      <p:sp>
        <p:nvSpPr>
          <p:cNvPr id="21" name="Text 1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ApexPlanet Data Analytics Internship  |  Task 4</a:t>
            </a:r>
            <a:endParaRPr lang="en-US" sz="900" dirty="0"/>
          </a:p>
        </p:txBody>
      </p:sp>
      <p:sp>
        <p:nvSpPr>
          <p:cNvPr id="22" name="Text 19"/>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64592"/>
            <a:ext cx="11091672" cy="274320"/>
          </a:xfrm>
          <a:prstGeom prst="rect">
            <a:avLst/>
          </a:prstGeom>
          <a:noFill/>
          <a:ln/>
        </p:spPr>
        <p:txBody>
          <a:bodyPr wrap="square" rtlCol="0" anchor="ctr"/>
          <a:lstStyle/>
          <a:p>
            <a:pPr indent="0" marL="0">
              <a:buNone/>
            </a:pPr>
            <a:r>
              <a:rPr lang="en-US" sz="1200" b="1" spc="200" kern="0" dirty="0">
                <a:solidFill>
                  <a:srgbClr val="2A9D8F"/>
                </a:solidFill>
                <a:latin typeface="Calibri" pitchFamily="34" charset="0"/>
                <a:ea typeface="Calibri" pitchFamily="34" charset="-122"/>
                <a:cs typeface="Calibri" pitchFamily="34" charset="-120"/>
              </a:rPr>
              <a:t>STATISTICAL VALIDATION</a:t>
            </a:r>
            <a:endParaRPr lang="en-US" sz="1200" dirty="0"/>
          </a:p>
        </p:txBody>
      </p:sp>
      <p:sp>
        <p:nvSpPr>
          <p:cNvPr id="3" name="Text 1"/>
          <p:cNvSpPr/>
          <p:nvPr/>
        </p:nvSpPr>
        <p:spPr>
          <a:xfrm>
            <a:off x="548640" y="411480"/>
            <a:ext cx="11091672" cy="731520"/>
          </a:xfrm>
          <a:prstGeom prst="rect">
            <a:avLst/>
          </a:prstGeom>
          <a:noFill/>
          <a:ln/>
        </p:spPr>
        <p:txBody>
          <a:bodyPr wrap="square" rtlCol="0" anchor="ctr"/>
          <a:lstStyle/>
          <a:p>
            <a:pPr indent="0" marL="0">
              <a:buNone/>
            </a:pPr>
            <a:r>
              <a:rPr lang="en-US" sz="3000" b="1" dirty="0">
                <a:solidFill>
                  <a:srgbClr val="1C2B4A"/>
                </a:solidFill>
                <a:latin typeface="Georgia" pitchFamily="34" charset="0"/>
                <a:ea typeface="Georgia" pitchFamily="34" charset="-122"/>
                <a:cs typeface="Georgia" pitchFamily="34" charset="-120"/>
              </a:rPr>
              <a:t>Is the average order really high-value?</a:t>
            </a:r>
            <a:endParaRPr lang="en-US" sz="3000" dirty="0"/>
          </a:p>
        </p:txBody>
      </p:sp>
      <p:sp>
        <p:nvSpPr>
          <p:cNvPr id="4" name="Text 2"/>
          <p:cNvSpPr/>
          <p:nvPr/>
        </p:nvSpPr>
        <p:spPr>
          <a:xfrm>
            <a:off x="548640" y="1280160"/>
            <a:ext cx="11064240" cy="411480"/>
          </a:xfrm>
          <a:prstGeom prst="rect">
            <a:avLst/>
          </a:prstGeom>
          <a:noFill/>
          <a:ln/>
        </p:spPr>
        <p:txBody>
          <a:bodyPr wrap="square" rtlCol="0" anchor="ctr"/>
          <a:lstStyle/>
          <a:p>
            <a:pPr indent="0" marL="0">
              <a:buNone/>
            </a:pPr>
            <a:r>
              <a:rPr lang="en-US" sz="1500" b="1" i="1" dirty="0">
                <a:solidFill>
                  <a:srgbClr val="1C2B4A"/>
                </a:solidFill>
                <a:latin typeface="Calibri" pitchFamily="34" charset="0"/>
                <a:ea typeface="Calibri" pitchFamily="34" charset="-122"/>
                <a:cs typeface="Calibri" pitchFamily="34" charset="-120"/>
              </a:rPr>
              <a:t>Business Question:  "Is the average order value greater than ₹10,000?"</a:t>
            </a:r>
            <a:endParaRPr lang="en-US" sz="1500" dirty="0"/>
          </a:p>
        </p:txBody>
      </p:sp>
      <p:sp>
        <p:nvSpPr>
          <p:cNvPr id="5" name="Shape 3"/>
          <p:cNvSpPr/>
          <p:nvPr/>
        </p:nvSpPr>
        <p:spPr>
          <a:xfrm>
            <a:off x="548640" y="1874520"/>
            <a:ext cx="5349240" cy="1417320"/>
          </a:xfrm>
          <a:prstGeom prst="roundRect">
            <a:avLst>
              <a:gd name="adj" fmla="val 6452"/>
            </a:avLst>
          </a:prstGeom>
          <a:solidFill>
            <a:srgbClr val="F4F6F9"/>
          </a:solidFill>
          <a:ln/>
        </p:spPr>
      </p:sp>
      <p:sp>
        <p:nvSpPr>
          <p:cNvPr id="6" name="Text 4"/>
          <p:cNvSpPr/>
          <p:nvPr/>
        </p:nvSpPr>
        <p:spPr>
          <a:xfrm>
            <a:off x="822960" y="2029968"/>
            <a:ext cx="4846320" cy="274320"/>
          </a:xfrm>
          <a:prstGeom prst="rect">
            <a:avLst/>
          </a:prstGeom>
          <a:noFill/>
          <a:ln/>
        </p:spPr>
        <p:txBody>
          <a:bodyPr wrap="square" rtlCol="0" anchor="ctr"/>
          <a:lstStyle/>
          <a:p>
            <a:pPr indent="0" marL="0">
              <a:buNone/>
            </a:pPr>
            <a:r>
              <a:rPr lang="en-US" sz="1100" b="1" spc="100" kern="0" dirty="0">
                <a:solidFill>
                  <a:srgbClr val="6B7280"/>
                </a:solidFill>
                <a:latin typeface="Calibri" pitchFamily="34" charset="0"/>
                <a:ea typeface="Calibri" pitchFamily="34" charset="-122"/>
                <a:cs typeface="Calibri" pitchFamily="34" charset="-120"/>
              </a:rPr>
              <a:t>NULL HYPOTHESIS  (H₀)</a:t>
            </a:r>
            <a:endParaRPr lang="en-US" sz="1100" dirty="0"/>
          </a:p>
        </p:txBody>
      </p:sp>
      <p:sp>
        <p:nvSpPr>
          <p:cNvPr id="7" name="Text 5"/>
          <p:cNvSpPr/>
          <p:nvPr/>
        </p:nvSpPr>
        <p:spPr>
          <a:xfrm>
            <a:off x="822960" y="2331720"/>
            <a:ext cx="4846320" cy="822960"/>
          </a:xfrm>
          <a:prstGeom prst="rect">
            <a:avLst/>
          </a:prstGeom>
          <a:noFill/>
          <a:ln/>
        </p:spPr>
        <p:txBody>
          <a:bodyPr wrap="square" rtlCol="0" anchor="ctr"/>
          <a:lstStyle/>
          <a:p>
            <a:pPr indent="0" marL="0">
              <a:buNone/>
            </a:pPr>
            <a:r>
              <a:rPr lang="en-US" sz="1800" b="1" dirty="0">
                <a:solidFill>
                  <a:srgbClr val="1C2B4A"/>
                </a:solidFill>
                <a:latin typeface="Georgia" pitchFamily="34" charset="0"/>
                <a:ea typeface="Georgia" pitchFamily="34" charset="-122"/>
                <a:cs typeface="Georgia" pitchFamily="34" charset="-120"/>
              </a:rPr>
              <a:t>Average Order Value ≤ ₹10,000</a:t>
            </a:r>
            <a:endParaRPr lang="en-US" sz="1800" dirty="0"/>
          </a:p>
        </p:txBody>
      </p:sp>
      <p:sp>
        <p:nvSpPr>
          <p:cNvPr id="8" name="Shape 6"/>
          <p:cNvSpPr/>
          <p:nvPr/>
        </p:nvSpPr>
        <p:spPr>
          <a:xfrm>
            <a:off x="6263640" y="1874520"/>
            <a:ext cx="5349240" cy="1417320"/>
          </a:xfrm>
          <a:prstGeom prst="roundRect">
            <a:avLst>
              <a:gd name="adj" fmla="val 6452"/>
            </a:avLst>
          </a:prstGeom>
          <a:solidFill>
            <a:srgbClr val="1C2B4A"/>
          </a:solidFill>
          <a:ln/>
        </p:spPr>
      </p:sp>
      <p:sp>
        <p:nvSpPr>
          <p:cNvPr id="9" name="Text 7"/>
          <p:cNvSpPr/>
          <p:nvPr/>
        </p:nvSpPr>
        <p:spPr>
          <a:xfrm>
            <a:off x="6537960" y="2029968"/>
            <a:ext cx="4846320" cy="274320"/>
          </a:xfrm>
          <a:prstGeom prst="rect">
            <a:avLst/>
          </a:prstGeom>
          <a:noFill/>
          <a:ln/>
        </p:spPr>
        <p:txBody>
          <a:bodyPr wrap="square" rtlCol="0" anchor="ctr"/>
          <a:lstStyle/>
          <a:p>
            <a:pPr indent="0" marL="0">
              <a:buNone/>
            </a:pPr>
            <a:r>
              <a:rPr lang="en-US" sz="1100" b="1" spc="100" kern="0" dirty="0">
                <a:solidFill>
                  <a:srgbClr val="E9C46A"/>
                </a:solidFill>
                <a:latin typeface="Calibri" pitchFamily="34" charset="0"/>
                <a:ea typeface="Calibri" pitchFamily="34" charset="-122"/>
                <a:cs typeface="Calibri" pitchFamily="34" charset="-120"/>
              </a:rPr>
              <a:t>ALTERNATIVE HYPOTHESIS  (H₁)</a:t>
            </a:r>
            <a:endParaRPr lang="en-US" sz="1100" dirty="0"/>
          </a:p>
        </p:txBody>
      </p:sp>
      <p:sp>
        <p:nvSpPr>
          <p:cNvPr id="10" name="Text 8"/>
          <p:cNvSpPr/>
          <p:nvPr/>
        </p:nvSpPr>
        <p:spPr>
          <a:xfrm>
            <a:off x="6537960" y="2331720"/>
            <a:ext cx="4846320" cy="822960"/>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Average Order Value &gt; ₹10,000</a:t>
            </a:r>
            <a:endParaRPr lang="en-US" sz="1800" dirty="0"/>
          </a:p>
        </p:txBody>
      </p:sp>
      <p:sp>
        <p:nvSpPr>
          <p:cNvPr id="11" name="Text 9"/>
          <p:cNvSpPr/>
          <p:nvPr/>
        </p:nvSpPr>
        <p:spPr>
          <a:xfrm>
            <a:off x="548640" y="3520440"/>
            <a:ext cx="5486400" cy="320040"/>
          </a:xfrm>
          <a:prstGeom prst="rect">
            <a:avLst/>
          </a:prstGeom>
          <a:noFill/>
          <a:ln/>
        </p:spPr>
        <p:txBody>
          <a:bodyPr wrap="square" rtlCol="0" anchor="ctr"/>
          <a:lstStyle/>
          <a:p>
            <a:pPr indent="0" marL="0">
              <a:buNone/>
            </a:pPr>
            <a:r>
              <a:rPr lang="en-US" sz="1300" b="1" dirty="0">
                <a:solidFill>
                  <a:srgbClr val="1C2B4A"/>
                </a:solidFill>
                <a:latin typeface="Calibri" pitchFamily="34" charset="0"/>
                <a:ea typeface="Calibri" pitchFamily="34" charset="-122"/>
                <a:cs typeface="Calibri" pitchFamily="34" charset="-120"/>
              </a:rPr>
              <a:t>Test used: One-Sample t-Test</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3886200"/>
          <a:ext cx="5577840" cy="1920240"/>
        </p:xfrm>
        <a:graphic>
          <a:graphicData uri="http://schemas.openxmlformats.org/drawingml/2006/table">
            <a:tbl>
              <a:tblPr/>
              <a:tblGrid>
                <a:gridCol w="2788920"/>
                <a:gridCol w="278892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Metric</a:t>
                      </a:r>
                      <a:endParaRPr lang="en-US" sz="1250" dirty="0">
                        <a:latin typeface="Calibri" charset="0"/>
                        <a:ea typeface="Calibri" charset="0"/>
                        <a:cs typeface="Calibri" charset="0"/>
                      </a:endParaRPr>
                    </a:p>
                  </a:txBody>
                  <a:tcPr marL="91440" marR="91440" marT="45720" marB="45720">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C2B4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Value</a:t>
                      </a:r>
                      <a:endParaRPr lang="en-US" sz="1250" dirty="0">
                        <a:latin typeface="Calibri" charset="0"/>
                        <a:ea typeface="Calibri" charset="0"/>
                        <a:cs typeface="Calibri" charset="0"/>
                      </a:endParaRPr>
                    </a:p>
                  </a:txBody>
                  <a:tcPr marL="91440" marR="91440" marT="45720" marB="45720">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C2B4A"/>
                    </a:solidFill>
                  </a:tcPr>
                </a:tc>
              </a:tr>
              <a:tr h="384048">
                <a:tc>
                  <a:txBody>
                    <a:bodyPr/>
                    <a:lstStyle/>
                    <a:p>
                      <a:pPr indent="0" marL="0">
                        <a:buNone/>
                      </a:pPr>
                      <a:r>
                        <a:rPr lang="en-US" sz="1250" dirty="0">
                          <a:solidFill>
                            <a:srgbClr val="273043"/>
                          </a:solidFill>
                          <a:latin typeface="Calibri" pitchFamily="34" charset="0"/>
                          <a:ea typeface="Calibri" pitchFamily="34" charset="-122"/>
                          <a:cs typeface="Calibri" pitchFamily="34" charset="-120"/>
                        </a:rPr>
                        <a:t>Sample Size</a:t>
                      </a:r>
                      <a:endParaRPr lang="en-US" sz="1250" dirty="0">
                        <a:latin typeface="Calibri" charset="0"/>
                        <a:ea typeface="Calibri" charset="0"/>
                        <a:cs typeface="Calibri" charset="0"/>
                      </a:endParaRPr>
                    </a:p>
                  </a:txBody>
                  <a:tcPr marL="91440" marR="91440" marT="45720" marB="45720">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250" dirty="0">
                          <a:solidFill>
                            <a:srgbClr val="273043"/>
                          </a:solidFill>
                          <a:latin typeface="Calibri" pitchFamily="34" charset="0"/>
                          <a:ea typeface="Calibri" pitchFamily="34" charset="-122"/>
                          <a:cs typeface="Calibri" pitchFamily="34" charset="-120"/>
                        </a:rPr>
                        <a:t>1,000</a:t>
                      </a:r>
                      <a:endParaRPr lang="en-US" sz="1250" dirty="0">
                        <a:latin typeface="Calibri" charset="0"/>
                        <a:ea typeface="Calibri" charset="0"/>
                        <a:cs typeface="Calibri" charset="0"/>
                      </a:endParaRPr>
                    </a:p>
                  </a:txBody>
                  <a:tcPr marL="91440" marR="91440" marT="45720" marB="45720">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384048">
                <a:tc>
                  <a:txBody>
                    <a:bodyPr/>
                    <a:lstStyle/>
                    <a:p>
                      <a:pPr indent="0" marL="0">
                        <a:buNone/>
                      </a:pPr>
                      <a:r>
                        <a:rPr lang="en-US" sz="1250" dirty="0">
                          <a:solidFill>
                            <a:srgbClr val="273043"/>
                          </a:solidFill>
                          <a:latin typeface="Calibri" pitchFamily="34" charset="0"/>
                          <a:ea typeface="Calibri" pitchFamily="34" charset="-122"/>
                          <a:cs typeface="Calibri" pitchFamily="34" charset="-120"/>
                        </a:rPr>
                        <a:t>Sample Mean</a:t>
                      </a:r>
                      <a:endParaRPr lang="en-US" sz="1250" dirty="0">
                        <a:latin typeface="Calibri" charset="0"/>
                        <a:ea typeface="Calibri" charset="0"/>
                        <a:cs typeface="Calibri" charset="0"/>
                      </a:endParaRPr>
                    </a:p>
                  </a:txBody>
                  <a:tcPr marL="91440" marR="91440" marT="45720" marB="45720">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250" dirty="0">
                          <a:solidFill>
                            <a:srgbClr val="273043"/>
                          </a:solidFill>
                          <a:latin typeface="Calibri" pitchFamily="34" charset="0"/>
                          <a:ea typeface="Calibri" pitchFamily="34" charset="-122"/>
                          <a:cs typeface="Calibri" pitchFamily="34" charset="-120"/>
                        </a:rPr>
                        <a:t>₹1,39,399.44</a:t>
                      </a:r>
                      <a:endParaRPr lang="en-US" sz="1250" dirty="0">
                        <a:latin typeface="Calibri" charset="0"/>
                        <a:ea typeface="Calibri" charset="0"/>
                        <a:cs typeface="Calibri" charset="0"/>
                      </a:endParaRPr>
                    </a:p>
                  </a:txBody>
                  <a:tcPr marL="91440" marR="91440" marT="45720" marB="45720">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384048">
                <a:tc>
                  <a:txBody>
                    <a:bodyPr/>
                    <a:lstStyle/>
                    <a:p>
                      <a:pPr indent="0" marL="0">
                        <a:buNone/>
                      </a:pPr>
                      <a:r>
                        <a:rPr lang="en-US" sz="1250" dirty="0">
                          <a:solidFill>
                            <a:srgbClr val="273043"/>
                          </a:solidFill>
                          <a:latin typeface="Calibri" pitchFamily="34" charset="0"/>
                          <a:ea typeface="Calibri" pitchFamily="34" charset="-122"/>
                          <a:cs typeface="Calibri" pitchFamily="34" charset="-120"/>
                        </a:rPr>
                        <a:t>t-Statistic</a:t>
                      </a:r>
                      <a:endParaRPr lang="en-US" sz="1250" dirty="0">
                        <a:latin typeface="Calibri" charset="0"/>
                        <a:ea typeface="Calibri" charset="0"/>
                        <a:cs typeface="Calibri" charset="0"/>
                      </a:endParaRPr>
                    </a:p>
                  </a:txBody>
                  <a:tcPr marL="91440" marR="91440" marT="45720" marB="45720">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250" dirty="0">
                          <a:solidFill>
                            <a:srgbClr val="273043"/>
                          </a:solidFill>
                          <a:latin typeface="Calibri" pitchFamily="34" charset="0"/>
                          <a:ea typeface="Calibri" pitchFamily="34" charset="-122"/>
                          <a:cs typeface="Calibri" pitchFamily="34" charset="-120"/>
                        </a:rPr>
                        <a:t>35.863</a:t>
                      </a:r>
                      <a:endParaRPr lang="en-US" sz="1250" dirty="0">
                        <a:latin typeface="Calibri" charset="0"/>
                        <a:ea typeface="Calibri" charset="0"/>
                        <a:cs typeface="Calibri" charset="0"/>
                      </a:endParaRPr>
                    </a:p>
                  </a:txBody>
                  <a:tcPr marL="91440" marR="91440" marT="45720" marB="45720">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384048">
                <a:tc>
                  <a:txBody>
                    <a:bodyPr/>
                    <a:lstStyle/>
                    <a:p>
                      <a:pPr indent="0" marL="0">
                        <a:buNone/>
                      </a:pPr>
                      <a:r>
                        <a:rPr lang="en-US" sz="1250" dirty="0">
                          <a:solidFill>
                            <a:srgbClr val="273043"/>
                          </a:solidFill>
                          <a:latin typeface="Calibri" pitchFamily="34" charset="0"/>
                          <a:ea typeface="Calibri" pitchFamily="34" charset="-122"/>
                          <a:cs typeface="Calibri" pitchFamily="34" charset="-120"/>
                        </a:rPr>
                        <a:t>p-Value</a:t>
                      </a:r>
                      <a:endParaRPr lang="en-US" sz="1250" dirty="0">
                        <a:latin typeface="Calibri" charset="0"/>
                        <a:ea typeface="Calibri" charset="0"/>
                        <a:cs typeface="Calibri" charset="0"/>
                      </a:endParaRPr>
                    </a:p>
                  </a:txBody>
                  <a:tcPr marL="91440" marR="91440" marT="45720" marB="45720">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250" dirty="0">
                          <a:solidFill>
                            <a:srgbClr val="273043"/>
                          </a:solidFill>
                          <a:latin typeface="Calibri" pitchFamily="34" charset="0"/>
                          <a:ea typeface="Calibri" pitchFamily="34" charset="-122"/>
                          <a:cs typeface="Calibri" pitchFamily="34" charset="-120"/>
                        </a:rPr>
                        <a:t>5.37 × 10⁻¹⁸²</a:t>
                      </a:r>
                      <a:endParaRPr lang="en-US" sz="1250" dirty="0">
                        <a:latin typeface="Calibri" charset="0"/>
                        <a:ea typeface="Calibri" charset="0"/>
                        <a:cs typeface="Calibri" charset="0"/>
                      </a:endParaRPr>
                    </a:p>
                  </a:txBody>
                  <a:tcPr marL="91440" marR="91440" marT="45720" marB="45720">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
        <p:nvSpPr>
          <p:cNvPr id="13" name="Shape 10"/>
          <p:cNvSpPr/>
          <p:nvPr/>
        </p:nvSpPr>
        <p:spPr>
          <a:xfrm>
            <a:off x="6355080" y="3886200"/>
            <a:ext cx="5257800" cy="2148840"/>
          </a:xfrm>
          <a:prstGeom prst="roundRect">
            <a:avLst>
              <a:gd name="adj" fmla="val 4255"/>
            </a:avLst>
          </a:prstGeom>
          <a:solidFill>
            <a:srgbClr val="EAF6F4"/>
          </a:solidFill>
          <a:ln/>
        </p:spPr>
      </p:sp>
      <p:sp>
        <p:nvSpPr>
          <p:cNvPr id="14" name="Text 11"/>
          <p:cNvSpPr/>
          <p:nvPr/>
        </p:nvSpPr>
        <p:spPr>
          <a:xfrm>
            <a:off x="6583680" y="4041648"/>
            <a:ext cx="4754880" cy="274320"/>
          </a:xfrm>
          <a:prstGeom prst="rect">
            <a:avLst/>
          </a:prstGeom>
          <a:noFill/>
          <a:ln/>
        </p:spPr>
        <p:txBody>
          <a:bodyPr wrap="square" rtlCol="0" anchor="ctr"/>
          <a:lstStyle/>
          <a:p>
            <a:pPr indent="0" marL="0">
              <a:buNone/>
            </a:pPr>
            <a:r>
              <a:rPr lang="en-US" sz="1100" b="1" spc="150" kern="0" dirty="0">
                <a:solidFill>
                  <a:srgbClr val="2A9D8F"/>
                </a:solidFill>
                <a:latin typeface="Calibri" pitchFamily="34" charset="0"/>
                <a:ea typeface="Calibri" pitchFamily="34" charset="-122"/>
                <a:cs typeface="Calibri" pitchFamily="34" charset="-120"/>
              </a:rPr>
              <a:t>CONCLUSION</a:t>
            </a:r>
            <a:endParaRPr lang="en-US" sz="1100" dirty="0"/>
          </a:p>
        </p:txBody>
      </p:sp>
      <p:sp>
        <p:nvSpPr>
          <p:cNvPr id="15" name="Text 12"/>
          <p:cNvSpPr/>
          <p:nvPr/>
        </p:nvSpPr>
        <p:spPr>
          <a:xfrm>
            <a:off x="6583680" y="4370832"/>
            <a:ext cx="4800600" cy="1554480"/>
          </a:xfrm>
          <a:prstGeom prst="rect">
            <a:avLst/>
          </a:prstGeom>
          <a:noFill/>
          <a:ln/>
        </p:spPr>
        <p:txBody>
          <a:bodyPr wrap="square" rtlCol="0" anchor="ctr"/>
          <a:lstStyle/>
          <a:p>
            <a:pPr indent="0" marL="0">
              <a:lnSpc>
                <a:spcPts val="1800"/>
              </a:lnSpc>
              <a:buNone/>
            </a:pPr>
            <a:r>
              <a:rPr lang="en-US" sz="1250" dirty="0">
                <a:solidFill>
                  <a:srgbClr val="273043"/>
                </a:solidFill>
                <a:latin typeface="Calibri" pitchFamily="34" charset="0"/>
                <a:ea typeface="Calibri" pitchFamily="34" charset="-122"/>
                <a:cs typeface="Calibri" pitchFamily="34" charset="-120"/>
              </a:rPr>
              <a:t>The p-value is far smaller than 0.05, so we reject the null hypothesis. There is strong statistical evidence that the average order value is genuinely greater than ₹10,000 — this isn't a fluke of the sample.</a:t>
            </a:r>
            <a:endParaRPr lang="en-US" sz="1250" dirty="0"/>
          </a:p>
        </p:txBody>
      </p:sp>
      <p:sp>
        <p:nvSpPr>
          <p:cNvPr id="16" name="Text 13"/>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ApexPlanet Data Analytics Internship  |  Task 4</a:t>
            </a:r>
            <a:endParaRPr lang="en-US" sz="900" dirty="0"/>
          </a:p>
        </p:txBody>
      </p:sp>
      <p:sp>
        <p:nvSpPr>
          <p:cNvPr id="17" name="Text 14"/>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64592"/>
            <a:ext cx="11091672" cy="274320"/>
          </a:xfrm>
          <a:prstGeom prst="rect">
            <a:avLst/>
          </a:prstGeom>
          <a:noFill/>
          <a:ln/>
        </p:spPr>
        <p:txBody>
          <a:bodyPr wrap="square" rtlCol="0" anchor="ctr"/>
          <a:lstStyle/>
          <a:p>
            <a:pPr indent="0" marL="0">
              <a:buNone/>
            </a:pPr>
            <a:r>
              <a:rPr lang="en-US" sz="1200" b="1" spc="200" kern="0" dirty="0">
                <a:solidFill>
                  <a:srgbClr val="2A9D8F"/>
                </a:solidFill>
                <a:latin typeface="Calibri" pitchFamily="34" charset="0"/>
                <a:ea typeface="Calibri" pitchFamily="34" charset="-122"/>
                <a:cs typeface="Calibri" pitchFamily="34" charset="-120"/>
              </a:rPr>
              <a:t>WHAT SHOULD THE COMPANY DO</a:t>
            </a:r>
            <a:endParaRPr lang="en-US" sz="1200" dirty="0"/>
          </a:p>
        </p:txBody>
      </p:sp>
      <p:sp>
        <p:nvSpPr>
          <p:cNvPr id="3" name="Text 1"/>
          <p:cNvSpPr/>
          <p:nvPr/>
        </p:nvSpPr>
        <p:spPr>
          <a:xfrm>
            <a:off x="548640" y="411480"/>
            <a:ext cx="11091672" cy="731520"/>
          </a:xfrm>
          <a:prstGeom prst="rect">
            <a:avLst/>
          </a:prstGeom>
          <a:noFill/>
          <a:ln/>
        </p:spPr>
        <p:txBody>
          <a:bodyPr wrap="square" rtlCol="0" anchor="ctr"/>
          <a:lstStyle/>
          <a:p>
            <a:pPr indent="0" marL="0">
              <a:buNone/>
            </a:pPr>
            <a:r>
              <a:rPr lang="en-US" sz="3000" b="1" dirty="0">
                <a:solidFill>
                  <a:srgbClr val="1C2B4A"/>
                </a:solidFill>
                <a:latin typeface="Georgia" pitchFamily="34" charset="0"/>
                <a:ea typeface="Georgia" pitchFamily="34" charset="-122"/>
                <a:cs typeface="Georgia" pitchFamily="34" charset="-120"/>
              </a:rPr>
              <a:t>Recommendations</a:t>
            </a:r>
            <a:endParaRPr lang="en-US" sz="3000" dirty="0"/>
          </a:p>
        </p:txBody>
      </p:sp>
      <p:sp>
        <p:nvSpPr>
          <p:cNvPr id="4" name="Shape 2"/>
          <p:cNvSpPr/>
          <p:nvPr/>
        </p:nvSpPr>
        <p:spPr>
          <a:xfrm>
            <a:off x="548640" y="1417320"/>
            <a:ext cx="5349240" cy="1965960"/>
          </a:xfrm>
          <a:prstGeom prst="roundRect">
            <a:avLst>
              <a:gd name="adj" fmla="val 4651"/>
            </a:avLst>
          </a:prstGeom>
          <a:solidFill>
            <a:srgbClr val="F4F6F9"/>
          </a:solidFill>
          <a:ln/>
        </p:spPr>
      </p:sp>
      <p:sp>
        <p:nvSpPr>
          <p:cNvPr id="5" name="Shape 3"/>
          <p:cNvSpPr/>
          <p:nvPr/>
        </p:nvSpPr>
        <p:spPr>
          <a:xfrm>
            <a:off x="804672" y="1673352"/>
            <a:ext cx="502920" cy="502920"/>
          </a:xfrm>
          <a:prstGeom prst="roundRect">
            <a:avLst>
              <a:gd name="adj" fmla="val 18182"/>
            </a:avLst>
          </a:prstGeom>
          <a:solidFill>
            <a:srgbClr val="1C2B4A"/>
          </a:solidFill>
          <a:ln/>
        </p:spPr>
      </p:sp>
      <p:sp>
        <p:nvSpPr>
          <p:cNvPr id="6" name="Text 4"/>
          <p:cNvSpPr/>
          <p:nvPr/>
        </p:nvSpPr>
        <p:spPr>
          <a:xfrm>
            <a:off x="804672" y="1673352"/>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7" name="Text 5"/>
          <p:cNvSpPr/>
          <p:nvPr/>
        </p:nvSpPr>
        <p:spPr>
          <a:xfrm>
            <a:off x="1463040" y="1655064"/>
            <a:ext cx="4160520" cy="457200"/>
          </a:xfrm>
          <a:prstGeom prst="rect">
            <a:avLst/>
          </a:prstGeom>
          <a:noFill/>
          <a:ln/>
        </p:spPr>
        <p:txBody>
          <a:bodyPr wrap="square" rtlCol="0" anchor="ctr"/>
          <a:lstStyle/>
          <a:p>
            <a:pPr indent="0" marL="0">
              <a:buNone/>
            </a:pPr>
            <a:r>
              <a:rPr lang="en-US" sz="1500" b="1" dirty="0">
                <a:solidFill>
                  <a:srgbClr val="1C2B4A"/>
                </a:solidFill>
                <a:latin typeface="Calibri" pitchFamily="34" charset="0"/>
                <a:ea typeface="Calibri" pitchFamily="34" charset="-122"/>
                <a:cs typeface="Calibri" pitchFamily="34" charset="-120"/>
              </a:rPr>
              <a:t>Promote high-value products</a:t>
            </a:r>
            <a:endParaRPr lang="en-US" sz="1500" dirty="0"/>
          </a:p>
        </p:txBody>
      </p:sp>
      <p:sp>
        <p:nvSpPr>
          <p:cNvPr id="8" name="Text 6"/>
          <p:cNvSpPr/>
          <p:nvPr/>
        </p:nvSpPr>
        <p:spPr>
          <a:xfrm>
            <a:off x="1463040" y="2103120"/>
            <a:ext cx="4160520" cy="1097280"/>
          </a:xfrm>
          <a:prstGeom prst="rect">
            <a:avLst/>
          </a:prstGeom>
          <a:noFill/>
          <a:ln/>
        </p:spPr>
        <p:txBody>
          <a:bodyPr wrap="square" rtlCol="0" anchor="ctr"/>
          <a:lstStyle/>
          <a:p>
            <a:pPr indent="0" marL="0">
              <a:lnSpc>
                <a:spcPts val="1600"/>
              </a:lnSpc>
              <a:buNone/>
            </a:pPr>
            <a:r>
              <a:rPr lang="en-US" sz="1200" dirty="0">
                <a:solidFill>
                  <a:srgbClr val="6B7280"/>
                </a:solidFill>
                <a:latin typeface="Calibri" pitchFamily="34" charset="0"/>
                <a:ea typeface="Calibri" pitchFamily="34" charset="-122"/>
                <a:cs typeface="Calibri" pitchFamily="34" charset="-120"/>
              </a:rPr>
              <a:t>Double down on Laptops, Mobiles and Books — the three biggest revenue drivers — in campaigns and stock planning.</a:t>
            </a:r>
            <a:endParaRPr lang="en-US" sz="1200" dirty="0"/>
          </a:p>
        </p:txBody>
      </p:sp>
      <p:sp>
        <p:nvSpPr>
          <p:cNvPr id="9" name="Shape 7"/>
          <p:cNvSpPr/>
          <p:nvPr/>
        </p:nvSpPr>
        <p:spPr>
          <a:xfrm>
            <a:off x="6217920" y="1417320"/>
            <a:ext cx="5349240" cy="1965960"/>
          </a:xfrm>
          <a:prstGeom prst="roundRect">
            <a:avLst>
              <a:gd name="adj" fmla="val 4651"/>
            </a:avLst>
          </a:prstGeom>
          <a:solidFill>
            <a:srgbClr val="F4F6F9"/>
          </a:solidFill>
          <a:ln/>
        </p:spPr>
      </p:sp>
      <p:sp>
        <p:nvSpPr>
          <p:cNvPr id="10" name="Shape 8"/>
          <p:cNvSpPr/>
          <p:nvPr/>
        </p:nvSpPr>
        <p:spPr>
          <a:xfrm>
            <a:off x="6473952" y="1673352"/>
            <a:ext cx="502920" cy="502920"/>
          </a:xfrm>
          <a:prstGeom prst="roundRect">
            <a:avLst>
              <a:gd name="adj" fmla="val 18182"/>
            </a:avLst>
          </a:prstGeom>
          <a:solidFill>
            <a:srgbClr val="2A9D8F"/>
          </a:solidFill>
          <a:ln/>
        </p:spPr>
      </p:sp>
      <p:sp>
        <p:nvSpPr>
          <p:cNvPr id="11" name="Text 9"/>
          <p:cNvSpPr/>
          <p:nvPr/>
        </p:nvSpPr>
        <p:spPr>
          <a:xfrm>
            <a:off x="6473952" y="1673352"/>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2" name="Text 10"/>
          <p:cNvSpPr/>
          <p:nvPr/>
        </p:nvSpPr>
        <p:spPr>
          <a:xfrm>
            <a:off x="7132320" y="1655064"/>
            <a:ext cx="4160520" cy="457200"/>
          </a:xfrm>
          <a:prstGeom prst="rect">
            <a:avLst/>
          </a:prstGeom>
          <a:noFill/>
          <a:ln/>
        </p:spPr>
        <p:txBody>
          <a:bodyPr wrap="square" rtlCol="0" anchor="ctr"/>
          <a:lstStyle/>
          <a:p>
            <a:pPr indent="0" marL="0">
              <a:buNone/>
            </a:pPr>
            <a:r>
              <a:rPr lang="en-US" sz="1500" b="1" dirty="0">
                <a:solidFill>
                  <a:srgbClr val="1C2B4A"/>
                </a:solidFill>
                <a:latin typeface="Calibri" pitchFamily="34" charset="0"/>
                <a:ea typeface="Calibri" pitchFamily="34" charset="-122"/>
                <a:cs typeface="Calibri" pitchFamily="34" charset="-120"/>
              </a:rPr>
              <a:t>Focus marketing on top cities</a:t>
            </a:r>
            <a:endParaRPr lang="en-US" sz="1500" dirty="0"/>
          </a:p>
        </p:txBody>
      </p:sp>
      <p:sp>
        <p:nvSpPr>
          <p:cNvPr id="13" name="Text 11"/>
          <p:cNvSpPr/>
          <p:nvPr/>
        </p:nvSpPr>
        <p:spPr>
          <a:xfrm>
            <a:off x="7132320" y="2103120"/>
            <a:ext cx="4160520" cy="1097280"/>
          </a:xfrm>
          <a:prstGeom prst="rect">
            <a:avLst/>
          </a:prstGeom>
          <a:noFill/>
          <a:ln/>
        </p:spPr>
        <p:txBody>
          <a:bodyPr wrap="square" rtlCol="0" anchor="ctr"/>
          <a:lstStyle/>
          <a:p>
            <a:pPr indent="0" marL="0">
              <a:lnSpc>
                <a:spcPts val="1600"/>
              </a:lnSpc>
              <a:buNone/>
            </a:pPr>
            <a:r>
              <a:rPr lang="en-US" sz="1200" dirty="0">
                <a:solidFill>
                  <a:srgbClr val="6B7280"/>
                </a:solidFill>
                <a:latin typeface="Calibri" pitchFamily="34" charset="0"/>
                <a:ea typeface="Calibri" pitchFamily="34" charset="-122"/>
                <a:cs typeface="Calibri" pitchFamily="34" charset="-120"/>
              </a:rPr>
              <a:t>Patna, Kolkata and Bengaluru already lead in revenue; targeted local promotions can grow them further.</a:t>
            </a:r>
            <a:endParaRPr lang="en-US" sz="1200" dirty="0"/>
          </a:p>
        </p:txBody>
      </p:sp>
      <p:sp>
        <p:nvSpPr>
          <p:cNvPr id="14" name="Shape 12"/>
          <p:cNvSpPr/>
          <p:nvPr/>
        </p:nvSpPr>
        <p:spPr>
          <a:xfrm>
            <a:off x="548640" y="3657600"/>
            <a:ext cx="5349240" cy="1965960"/>
          </a:xfrm>
          <a:prstGeom prst="roundRect">
            <a:avLst>
              <a:gd name="adj" fmla="val 4651"/>
            </a:avLst>
          </a:prstGeom>
          <a:solidFill>
            <a:srgbClr val="F4F6F9"/>
          </a:solidFill>
          <a:ln/>
        </p:spPr>
      </p:sp>
      <p:sp>
        <p:nvSpPr>
          <p:cNvPr id="15" name="Shape 13"/>
          <p:cNvSpPr/>
          <p:nvPr/>
        </p:nvSpPr>
        <p:spPr>
          <a:xfrm>
            <a:off x="804672" y="3913632"/>
            <a:ext cx="502920" cy="502920"/>
          </a:xfrm>
          <a:prstGeom prst="roundRect">
            <a:avLst>
              <a:gd name="adj" fmla="val 18182"/>
            </a:avLst>
          </a:prstGeom>
          <a:solidFill>
            <a:srgbClr val="E76F51"/>
          </a:solidFill>
          <a:ln/>
        </p:spPr>
      </p:sp>
      <p:sp>
        <p:nvSpPr>
          <p:cNvPr id="16" name="Text 14"/>
          <p:cNvSpPr/>
          <p:nvPr/>
        </p:nvSpPr>
        <p:spPr>
          <a:xfrm>
            <a:off x="804672" y="3913632"/>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7" name="Text 15"/>
          <p:cNvSpPr/>
          <p:nvPr/>
        </p:nvSpPr>
        <p:spPr>
          <a:xfrm>
            <a:off x="1463040" y="3895344"/>
            <a:ext cx="4160520" cy="457200"/>
          </a:xfrm>
          <a:prstGeom prst="rect">
            <a:avLst/>
          </a:prstGeom>
          <a:noFill/>
          <a:ln/>
        </p:spPr>
        <p:txBody>
          <a:bodyPr wrap="square" rtlCol="0" anchor="ctr"/>
          <a:lstStyle/>
          <a:p>
            <a:pPr indent="0" marL="0">
              <a:buNone/>
            </a:pPr>
            <a:r>
              <a:rPr lang="en-US" sz="1500" b="1" dirty="0">
                <a:solidFill>
                  <a:srgbClr val="1C2B4A"/>
                </a:solidFill>
                <a:latin typeface="Calibri" pitchFamily="34" charset="0"/>
                <a:ea typeface="Calibri" pitchFamily="34" charset="-122"/>
                <a:cs typeface="Calibri" pitchFamily="34" charset="-120"/>
              </a:rPr>
              <a:t>Address the Aug–Sep dip</a:t>
            </a:r>
            <a:endParaRPr lang="en-US" sz="1500" dirty="0"/>
          </a:p>
        </p:txBody>
      </p:sp>
      <p:sp>
        <p:nvSpPr>
          <p:cNvPr id="18" name="Text 16"/>
          <p:cNvSpPr/>
          <p:nvPr/>
        </p:nvSpPr>
        <p:spPr>
          <a:xfrm>
            <a:off x="1463040" y="4343400"/>
            <a:ext cx="4160520" cy="1097280"/>
          </a:xfrm>
          <a:prstGeom prst="rect">
            <a:avLst/>
          </a:prstGeom>
          <a:noFill/>
          <a:ln/>
        </p:spPr>
        <p:txBody>
          <a:bodyPr wrap="square" rtlCol="0" anchor="ctr"/>
          <a:lstStyle/>
          <a:p>
            <a:pPr indent="0" marL="0">
              <a:lnSpc>
                <a:spcPts val="1600"/>
              </a:lnSpc>
              <a:buNone/>
            </a:pPr>
            <a:r>
              <a:rPr lang="en-US" sz="1200" dirty="0">
                <a:solidFill>
                  <a:srgbClr val="6B7280"/>
                </a:solidFill>
                <a:latin typeface="Calibri" pitchFamily="34" charset="0"/>
                <a:ea typeface="Calibri" pitchFamily="34" charset="-122"/>
                <a:cs typeface="Calibri" pitchFamily="34" charset="-120"/>
              </a:rPr>
              <a:t>Revenue softens in August and September — plan seasonal offers or bundles to smooth out the slowdown.</a:t>
            </a:r>
            <a:endParaRPr lang="en-US" sz="1200" dirty="0"/>
          </a:p>
        </p:txBody>
      </p:sp>
      <p:sp>
        <p:nvSpPr>
          <p:cNvPr id="19" name="Shape 17"/>
          <p:cNvSpPr/>
          <p:nvPr/>
        </p:nvSpPr>
        <p:spPr>
          <a:xfrm>
            <a:off x="6217920" y="3657600"/>
            <a:ext cx="5349240" cy="1965960"/>
          </a:xfrm>
          <a:prstGeom prst="roundRect">
            <a:avLst>
              <a:gd name="adj" fmla="val 4651"/>
            </a:avLst>
          </a:prstGeom>
          <a:solidFill>
            <a:srgbClr val="F4F6F9"/>
          </a:solidFill>
          <a:ln/>
        </p:spPr>
      </p:sp>
      <p:sp>
        <p:nvSpPr>
          <p:cNvPr id="20" name="Shape 18"/>
          <p:cNvSpPr/>
          <p:nvPr/>
        </p:nvSpPr>
        <p:spPr>
          <a:xfrm>
            <a:off x="6473952" y="3913632"/>
            <a:ext cx="502920" cy="502920"/>
          </a:xfrm>
          <a:prstGeom prst="roundRect">
            <a:avLst>
              <a:gd name="adj" fmla="val 18182"/>
            </a:avLst>
          </a:prstGeom>
          <a:solidFill>
            <a:srgbClr val="8E5572"/>
          </a:solidFill>
          <a:ln/>
        </p:spPr>
      </p:sp>
      <p:sp>
        <p:nvSpPr>
          <p:cNvPr id="21" name="Text 19"/>
          <p:cNvSpPr/>
          <p:nvPr/>
        </p:nvSpPr>
        <p:spPr>
          <a:xfrm>
            <a:off x="6473952" y="3913632"/>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22" name="Text 20"/>
          <p:cNvSpPr/>
          <p:nvPr/>
        </p:nvSpPr>
        <p:spPr>
          <a:xfrm>
            <a:off x="7132320" y="3895344"/>
            <a:ext cx="4160520" cy="457200"/>
          </a:xfrm>
          <a:prstGeom prst="rect">
            <a:avLst/>
          </a:prstGeom>
          <a:noFill/>
          <a:ln/>
        </p:spPr>
        <p:txBody>
          <a:bodyPr wrap="square" rtlCol="0" anchor="ctr"/>
          <a:lstStyle/>
          <a:p>
            <a:pPr indent="0" marL="0">
              <a:buNone/>
            </a:pPr>
            <a:r>
              <a:rPr lang="en-US" sz="1500" b="1" dirty="0">
                <a:solidFill>
                  <a:srgbClr val="1C2B4A"/>
                </a:solidFill>
                <a:latin typeface="Calibri" pitchFamily="34" charset="0"/>
                <a:ea typeface="Calibri" pitchFamily="34" charset="-122"/>
                <a:cs typeface="Calibri" pitchFamily="34" charset="-120"/>
              </a:rPr>
              <a:t>Introduce a loyalty programme</a:t>
            </a:r>
            <a:endParaRPr lang="en-US" sz="1500" dirty="0"/>
          </a:p>
        </p:txBody>
      </p:sp>
      <p:sp>
        <p:nvSpPr>
          <p:cNvPr id="23" name="Text 21"/>
          <p:cNvSpPr/>
          <p:nvPr/>
        </p:nvSpPr>
        <p:spPr>
          <a:xfrm>
            <a:off x="7132320" y="4343400"/>
            <a:ext cx="4160520" cy="1097280"/>
          </a:xfrm>
          <a:prstGeom prst="rect">
            <a:avLst/>
          </a:prstGeom>
          <a:noFill/>
          <a:ln/>
        </p:spPr>
        <p:txBody>
          <a:bodyPr wrap="square" rtlCol="0" anchor="ctr"/>
          <a:lstStyle/>
          <a:p>
            <a:pPr indent="0" marL="0">
              <a:lnSpc>
                <a:spcPts val="1600"/>
              </a:lnSpc>
              <a:buNone/>
            </a:pPr>
            <a:r>
              <a:rPr lang="en-US" sz="1200" dirty="0">
                <a:solidFill>
                  <a:srgbClr val="6B7280"/>
                </a:solidFill>
                <a:latin typeface="Calibri" pitchFamily="34" charset="0"/>
                <a:ea typeface="Calibri" pitchFamily="34" charset="-122"/>
                <a:cs typeface="Calibri" pitchFamily="34" charset="-120"/>
              </a:rPr>
              <a:t>With 93% of orders already high-value, rewarding repeat customers can protect and grow this base.</a:t>
            </a:r>
            <a:endParaRPr lang="en-US" sz="1200" dirty="0"/>
          </a:p>
        </p:txBody>
      </p:sp>
      <p:sp>
        <p:nvSpPr>
          <p:cNvPr id="24" name="Text 22"/>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ApexPlanet Data Analytics Internship  |  Task 4</a:t>
            </a:r>
            <a:endParaRPr lang="en-US" sz="900" dirty="0"/>
          </a:p>
        </p:txBody>
      </p:sp>
      <p:sp>
        <p:nvSpPr>
          <p:cNvPr id="25" name="Text 23"/>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C2B4A"/>
        </a:solidFill>
      </p:bgPr>
    </p:bg>
    <p:spTree>
      <p:nvGrpSpPr>
        <p:cNvPr id="1" name=""/>
        <p:cNvGrpSpPr/>
        <p:nvPr/>
      </p:nvGrpSpPr>
      <p:grpSpPr>
        <a:xfrm>
          <a:off x="0" y="0"/>
          <a:ext cx="0" cy="0"/>
          <a:chOff x="0" y="0"/>
          <a:chExt cx="0" cy="0"/>
        </a:xfrm>
      </p:grpSpPr>
      <p:sp>
        <p:nvSpPr>
          <p:cNvPr id="2" name="Shape 0"/>
          <p:cNvSpPr/>
          <p:nvPr/>
        </p:nvSpPr>
        <p:spPr>
          <a:xfrm>
            <a:off x="-2286000" y="3840480"/>
            <a:ext cx="5486400" cy="5486400"/>
          </a:xfrm>
          <a:prstGeom prst="ellipse">
            <a:avLst/>
          </a:prstGeom>
          <a:solidFill>
            <a:srgbClr val="2E3F63"/>
          </a:solidFill>
          <a:ln/>
        </p:spPr>
      </p:sp>
      <p:sp>
        <p:nvSpPr>
          <p:cNvPr id="3" name="Shape 1"/>
          <p:cNvSpPr/>
          <p:nvPr/>
        </p:nvSpPr>
        <p:spPr>
          <a:xfrm>
            <a:off x="9875520" y="-2377440"/>
            <a:ext cx="4754880" cy="4754880"/>
          </a:xfrm>
          <a:prstGeom prst="ellipse">
            <a:avLst/>
          </a:prstGeom>
          <a:solidFill>
            <a:srgbClr val="2A9D8F">
              <a:alpha val="20000"/>
            </a:srgbClr>
          </a:solidFill>
          <a:ln/>
        </p:spPr>
      </p:sp>
      <p:sp>
        <p:nvSpPr>
          <p:cNvPr id="4" name="Text 2"/>
          <p:cNvSpPr/>
          <p:nvPr/>
        </p:nvSpPr>
        <p:spPr>
          <a:xfrm>
            <a:off x="731520" y="640080"/>
            <a:ext cx="5486400" cy="320040"/>
          </a:xfrm>
          <a:prstGeom prst="rect">
            <a:avLst/>
          </a:prstGeom>
          <a:noFill/>
          <a:ln/>
        </p:spPr>
        <p:txBody>
          <a:bodyPr wrap="square" rtlCol="0" anchor="ctr"/>
          <a:lstStyle/>
          <a:p>
            <a:pPr indent="0" marL="0">
              <a:buNone/>
            </a:pPr>
            <a:r>
              <a:rPr lang="en-US" sz="1300" b="1" spc="200" kern="0" dirty="0">
                <a:solidFill>
                  <a:srgbClr val="E9C46A"/>
                </a:solidFill>
                <a:latin typeface="Calibri" pitchFamily="34" charset="0"/>
                <a:ea typeface="Calibri" pitchFamily="34" charset="-122"/>
                <a:cs typeface="Calibri" pitchFamily="34" charset="-120"/>
              </a:rPr>
              <a:t>CONCLUSION</a:t>
            </a:r>
            <a:endParaRPr lang="en-US" sz="1300" dirty="0"/>
          </a:p>
        </p:txBody>
      </p:sp>
      <p:sp>
        <p:nvSpPr>
          <p:cNvPr id="5" name="Text 3"/>
          <p:cNvSpPr/>
          <p:nvPr/>
        </p:nvSpPr>
        <p:spPr>
          <a:xfrm>
            <a:off x="731520" y="1005840"/>
            <a:ext cx="10515600" cy="82296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From messy data to a confident business decision</a:t>
            </a:r>
            <a:endParaRPr lang="en-US" sz="2800" dirty="0"/>
          </a:p>
        </p:txBody>
      </p:sp>
      <p:sp>
        <p:nvSpPr>
          <p:cNvPr id="6" name="Text 4"/>
          <p:cNvSpPr/>
          <p:nvPr/>
        </p:nvSpPr>
        <p:spPr>
          <a:xfrm>
            <a:off x="731520" y="1965960"/>
            <a:ext cx="10607040" cy="1188720"/>
          </a:xfrm>
          <a:prstGeom prst="rect">
            <a:avLst/>
          </a:prstGeom>
          <a:noFill/>
          <a:ln/>
        </p:spPr>
        <p:txBody>
          <a:bodyPr wrap="square" rtlCol="0" anchor="ctr"/>
          <a:lstStyle/>
          <a:p>
            <a:pPr indent="0" marL="0">
              <a:lnSpc>
                <a:spcPts val="2200"/>
              </a:lnSpc>
              <a:buNone/>
            </a:pPr>
            <a:r>
              <a:rPr lang="en-US" sz="1500" dirty="0">
                <a:solidFill>
                  <a:srgbClr val="D7DEEA"/>
                </a:solidFill>
                <a:latin typeface="Calibri" pitchFamily="34" charset="0"/>
                <a:ea typeface="Calibri" pitchFamily="34" charset="-122"/>
                <a:cs typeface="Calibri" pitchFamily="34" charset="-120"/>
              </a:rPr>
              <a:t>Cleaning, exploring and modelling 1,000 sales transactions turned scattered data into a clear picture: Electronics leads revenue, a handful of cities and products carry most of the business, and — backed by a statistical test, not a guess — the average order genuinely qualifies as high-value.</a:t>
            </a:r>
            <a:endParaRPr lang="en-US" sz="1500" dirty="0"/>
          </a:p>
        </p:txBody>
      </p:sp>
      <p:sp>
        <p:nvSpPr>
          <p:cNvPr id="7" name="Shape 5"/>
          <p:cNvSpPr/>
          <p:nvPr/>
        </p:nvSpPr>
        <p:spPr>
          <a:xfrm>
            <a:off x="731520" y="3429000"/>
            <a:ext cx="2528316" cy="457200"/>
          </a:xfrm>
          <a:prstGeom prst="roundRect">
            <a:avLst>
              <a:gd name="adj" fmla="val 50000"/>
            </a:avLst>
          </a:prstGeom>
          <a:solidFill>
            <a:srgbClr val="2E3F63"/>
          </a:solidFill>
          <a:ln w="12700">
            <a:solidFill>
              <a:srgbClr val="2A9D8F"/>
            </a:solidFill>
            <a:prstDash val="solid"/>
          </a:ln>
        </p:spPr>
      </p:sp>
      <p:sp>
        <p:nvSpPr>
          <p:cNvPr id="8" name="Text 6"/>
          <p:cNvSpPr/>
          <p:nvPr/>
        </p:nvSpPr>
        <p:spPr>
          <a:xfrm>
            <a:off x="731520" y="3429000"/>
            <a:ext cx="2528316" cy="457200"/>
          </a:xfrm>
          <a:prstGeom prst="rect">
            <a:avLst/>
          </a:prstGeom>
          <a:noFill/>
          <a:ln/>
        </p:spPr>
        <p:txBody>
          <a:bodyPr wrap="square"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Clean, reliable dataset</a:t>
            </a:r>
            <a:endParaRPr lang="en-US" sz="1150" dirty="0"/>
          </a:p>
        </p:txBody>
      </p:sp>
      <p:sp>
        <p:nvSpPr>
          <p:cNvPr id="9" name="Shape 7"/>
          <p:cNvSpPr/>
          <p:nvPr/>
        </p:nvSpPr>
        <p:spPr>
          <a:xfrm>
            <a:off x="3442716" y="3429000"/>
            <a:ext cx="3200400" cy="457200"/>
          </a:xfrm>
          <a:prstGeom prst="roundRect">
            <a:avLst>
              <a:gd name="adj" fmla="val 50000"/>
            </a:avLst>
          </a:prstGeom>
          <a:solidFill>
            <a:srgbClr val="2E3F63"/>
          </a:solidFill>
          <a:ln w="12700">
            <a:solidFill>
              <a:srgbClr val="2A9D8F"/>
            </a:solidFill>
            <a:prstDash val="solid"/>
          </a:ln>
        </p:spPr>
      </p:sp>
      <p:sp>
        <p:nvSpPr>
          <p:cNvPr id="10" name="Text 8"/>
          <p:cNvSpPr/>
          <p:nvPr/>
        </p:nvSpPr>
        <p:spPr>
          <a:xfrm>
            <a:off x="3442716" y="3429000"/>
            <a:ext cx="3200400" cy="457200"/>
          </a:xfrm>
          <a:prstGeom prst="rect">
            <a:avLst/>
          </a:prstGeom>
          <a:noFill/>
          <a:ln/>
        </p:spPr>
        <p:txBody>
          <a:bodyPr wrap="square"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Interactive Power BI dashboard</a:t>
            </a:r>
            <a:endParaRPr lang="en-US" sz="1150" dirty="0"/>
          </a:p>
        </p:txBody>
      </p:sp>
      <p:sp>
        <p:nvSpPr>
          <p:cNvPr id="11" name="Shape 9"/>
          <p:cNvSpPr/>
          <p:nvPr/>
        </p:nvSpPr>
        <p:spPr>
          <a:xfrm>
            <a:off x="6825996" y="3429000"/>
            <a:ext cx="3296412" cy="457200"/>
          </a:xfrm>
          <a:prstGeom prst="roundRect">
            <a:avLst>
              <a:gd name="adj" fmla="val 50000"/>
            </a:avLst>
          </a:prstGeom>
          <a:solidFill>
            <a:srgbClr val="2E3F63"/>
          </a:solidFill>
          <a:ln w="12700">
            <a:solidFill>
              <a:srgbClr val="2A9D8F"/>
            </a:solidFill>
            <a:prstDash val="solid"/>
          </a:ln>
        </p:spPr>
      </p:sp>
      <p:sp>
        <p:nvSpPr>
          <p:cNvPr id="12" name="Text 10"/>
          <p:cNvSpPr/>
          <p:nvPr/>
        </p:nvSpPr>
        <p:spPr>
          <a:xfrm>
            <a:off x="6825996" y="3429000"/>
            <a:ext cx="3296412" cy="457200"/>
          </a:xfrm>
          <a:prstGeom prst="rect">
            <a:avLst/>
          </a:prstGeom>
          <a:noFill/>
          <a:ln/>
        </p:spPr>
        <p:txBody>
          <a:bodyPr wrap="square"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Statistically validated insight</a:t>
            </a:r>
            <a:endParaRPr lang="en-US" sz="1150" dirty="0"/>
          </a:p>
        </p:txBody>
      </p:sp>
      <p:sp>
        <p:nvSpPr>
          <p:cNvPr id="13" name="Shape 11"/>
          <p:cNvSpPr/>
          <p:nvPr/>
        </p:nvSpPr>
        <p:spPr>
          <a:xfrm>
            <a:off x="10305288" y="3429000"/>
            <a:ext cx="3488436" cy="457200"/>
          </a:xfrm>
          <a:prstGeom prst="roundRect">
            <a:avLst>
              <a:gd name="adj" fmla="val 50000"/>
            </a:avLst>
          </a:prstGeom>
          <a:solidFill>
            <a:srgbClr val="2E3F63"/>
          </a:solidFill>
          <a:ln w="12700">
            <a:solidFill>
              <a:srgbClr val="2A9D8F"/>
            </a:solidFill>
            <a:prstDash val="solid"/>
          </a:ln>
        </p:spPr>
      </p:sp>
      <p:sp>
        <p:nvSpPr>
          <p:cNvPr id="14" name="Text 12"/>
          <p:cNvSpPr/>
          <p:nvPr/>
        </p:nvSpPr>
        <p:spPr>
          <a:xfrm>
            <a:off x="10305288" y="3429000"/>
            <a:ext cx="3488436" cy="457200"/>
          </a:xfrm>
          <a:prstGeom prst="rect">
            <a:avLst/>
          </a:prstGeom>
          <a:noFill/>
          <a:ln/>
        </p:spPr>
        <p:txBody>
          <a:bodyPr wrap="square"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Clear, actionable recommendations</a:t>
            </a:r>
            <a:endParaRPr lang="en-US" sz="1150" dirty="0"/>
          </a:p>
        </p:txBody>
      </p:sp>
      <p:sp>
        <p:nvSpPr>
          <p:cNvPr id="15" name="Shape 13"/>
          <p:cNvSpPr/>
          <p:nvPr/>
        </p:nvSpPr>
        <p:spPr>
          <a:xfrm>
            <a:off x="731520" y="4617720"/>
            <a:ext cx="1828800" cy="0"/>
          </a:xfrm>
          <a:prstGeom prst="line">
            <a:avLst/>
          </a:prstGeom>
          <a:noFill/>
          <a:ln w="25400">
            <a:solidFill>
              <a:srgbClr val="2A9D8F"/>
            </a:solidFill>
            <a:prstDash val="solid"/>
          </a:ln>
        </p:spPr>
      </p:sp>
      <p:sp>
        <p:nvSpPr>
          <p:cNvPr id="16" name="Text 14"/>
          <p:cNvSpPr/>
          <p:nvPr/>
        </p:nvSpPr>
        <p:spPr>
          <a:xfrm>
            <a:off x="731520" y="4754880"/>
            <a:ext cx="10058400" cy="365760"/>
          </a:xfrm>
          <a:prstGeom prst="rect">
            <a:avLst/>
          </a:prstGeom>
          <a:noFill/>
          <a:ln/>
        </p:spPr>
        <p:txBody>
          <a:bodyPr wrap="square" rtlCol="0" anchor="ctr"/>
          <a:lstStyle/>
          <a:p>
            <a:pPr indent="0" marL="0">
              <a:buNone/>
            </a:pPr>
            <a:r>
              <a:rPr lang="en-US" sz="1300" dirty="0">
                <a:solidFill>
                  <a:srgbClr val="AEB9CC"/>
                </a:solidFill>
                <a:latin typeface="Calibri" pitchFamily="34" charset="0"/>
                <a:ea typeface="Calibri" pitchFamily="34" charset="-122"/>
                <a:cs typeface="Calibri" pitchFamily="34" charset="-120"/>
              </a:rPr>
              <a:t>Prepared by R. Purushotham Reddy  •  ApexPlanet Data Analytics Internship</a:t>
            </a:r>
            <a:endParaRPr lang="en-US" sz="1300" dirty="0"/>
          </a:p>
        </p:txBody>
      </p:sp>
      <p:sp>
        <p:nvSpPr>
          <p:cNvPr id="17" name="Text 15"/>
          <p:cNvSpPr/>
          <p:nvPr/>
        </p:nvSpPr>
        <p:spPr>
          <a:xfrm>
            <a:off x="731520" y="5669280"/>
            <a:ext cx="5486400" cy="640080"/>
          </a:xfrm>
          <a:prstGeom prst="rect">
            <a:avLst/>
          </a:prstGeom>
          <a:noFill/>
          <a:ln/>
        </p:spPr>
        <p:txBody>
          <a:bodyPr wrap="square" rtlCol="0" anchor="ctr"/>
          <a:lstStyle/>
          <a:p>
            <a:pPr indent="0" marL="0">
              <a:buNone/>
            </a:pPr>
            <a:r>
              <a:rPr lang="en-US" sz="2600" b="1" dirty="0">
                <a:solidFill>
                  <a:srgbClr val="E9C46A"/>
                </a:solidFill>
                <a:latin typeface="Georgia" pitchFamily="34" charset="0"/>
                <a:ea typeface="Georgia" pitchFamily="34" charset="-122"/>
                <a:cs typeface="Georgia" pitchFamily="34" charset="-120"/>
              </a:rPr>
              <a:t>Thank you.</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2026-07-15T18:29:09Z</dcterms:created>
  <dcterms:modified xsi:type="dcterms:W3CDTF">2026-07-15T18:29:09Z</dcterms:modified>
</cp:coreProperties>
</file>